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1" clrIdx="0">
    <p:extLst>
      <p:ext uri="{19B8F6BF-5375-455C-9EA6-DF929625EA0E}">
        <p15:presenceInfo xmlns:p15="http://schemas.microsoft.com/office/powerpoint/2012/main" userId="810d1f93f30b3d7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A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4T21:01:55.528" idx="1">
    <p:pos x="3613" y="3328"/>
    <p:text>Логарифмирование — это как "увеличительное стекло" для маленьких значений и "уменьшающее" для гигантских. Оно делает данные "удобоваримыми" для анализа и машинного обучения.</p:text>
    <p:extLst>
      <p:ext uri="{C676402C-5697-4E1C-873F-D02D1690AC5C}">
        <p15:threadingInfo xmlns:p15="http://schemas.microsoft.com/office/powerpoint/2012/main" timeZoneBias="-180"/>
      </p:ext>
    </p:extLst>
  </p:cm>
  <p:cm authorId="1" dt="2025-12-04T21:02:20.470" idx="2">
    <p:pos x="10" y="10"/>
    <p:text>Зачем это нужно в проекте?
Для графиков: Чтобы увидеть закономерности (иначе все точки сливаются)
Для моделей ML: Чтобы алгоритмы не "зацикливались" на гигантских значениях
Для статистики: Чтобы среднее значение имело смысл (иначе среднее искажает картину)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4T22:40:28.765" idx="5">
    <p:pos x="7074" y="1566"/>
    <p:text>Прямоугольник ("ящик"): Показывает, где находятся средние 50% видео этой категории
Линия внутри ящика: Медиана — типичное значение, половина видео имеет больше просмотров, половина — меньше
"Усы" (вертикальные линии): Показывают диапазон "нормальных" значений (обычно 1.5 межквартильных размаха)
Точки над усами: Выбросы — супер-популярные видео, которые сильно выделяются
График сразу показывает иерархию категорий и неравенство в популярности — некоторые категории имеют фору "от рождения", но в каждой есть свои чемпионы.</p:text>
    <p:extLst>
      <p:ext uri="{C676402C-5697-4E1C-873F-D02D1690AC5C}">
        <p15:threadingInfo xmlns:p15="http://schemas.microsoft.com/office/powerpoint/2012/main" timeZoneBias="-180"/>
      </p:ext>
    </p:extLst>
  </p:cm>
  <p:cm authorId="1" dt="2025-12-04T22:42:12.977" idx="7">
    <p:pos x="6378" y="624"/>
    <p:text>EDA (Exploratory Data Analysis) — Разведочный Анализ Данных
Благодаря EDA мы обнаружили две ключевые особенности данных, которые определили весь дальнейший ход работы:
Сильный перекос в данных. Просмотры распределены по "степенному закону": 99% видео имеют скромные показатели, а единицы — миллиарды просмотров.
Решение: Мы применили логарифмирование, чтобы модель не "ослепляли" единичные гиганты.
Чёткие взаимосвязи. Обнаружилась сильная корреляция между лайками, комментариями и просмотрами.
Решение: Это подтвердило, что лайки и комментарии станут самыми важными признаками для обучения модели, а дизлайки — второстепенными.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4T21:56:49.382" idx="4">
    <p:pos x="5615" y="628"/>
    <p:text>Архитектура — это структурный план нейронной сети, который вы сознательно выбрали, чтобы она могла научиться предсказывать популярность видео на основе заданных признаков.</p:text>
    <p:extLst>
      <p:ext uri="{C676402C-5697-4E1C-873F-D02D1690AC5C}">
        <p15:threadingInfo xmlns:p15="http://schemas.microsoft.com/office/powerpoint/2012/main" timeZoneBias="-180"/>
      </p:ext>
    </p:extLst>
  </p:cm>
  <p:cm authorId="1" dt="2025-12-04T22:46:53.187" idx="8">
    <p:pos x="3978" y="2424"/>
    <p:text>Dense - Слой, где каждый нейрон связан с каждым нейроном предыдущего слоя
Сначала обрабатываем детали (128), потом обобщаем (32)</p:text>
    <p:extLst>
      <p:ext uri="{C676402C-5697-4E1C-873F-D02D1690AC5C}">
        <p15:threadingInfo xmlns:p15="http://schemas.microsoft.com/office/powerpoint/2012/main" timeZoneBias="-180"/>
      </p:ext>
    </p:extLst>
  </p:cm>
  <p:cm authorId="1" dt="2025-12-04T22:47:44.637" idx="9">
    <p:pos x="4206" y="2580"/>
    <p:text>Случайное отключение 30%/20% нейронов во время обучения
Чтобы сеть не запоминала данные, а училась обобщать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4T22:49:05.201" idx="10">
    <p:pos x="6102" y="1728"/>
    <p:text>Коэффициент детерминации R² — это процент успеха вашей модели, который показывает, какую долю изменчивости данных она объясняет.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4T22:51:43.022" idx="11">
    <p:pos x="2070" y="1704"/>
    <p:text>Random Forest в вашем проекте — не нейронная сеть, а отдельный, более простой алгоритм машинного обучения, который используется для анализа и интерпретации данных, чтобы сделать проект более понятным и обоснованным.</p:text>
    <p:extLst>
      <p:ext uri="{C676402C-5697-4E1C-873F-D02D1690AC5C}">
        <p15:threadingInfo xmlns:p15="http://schemas.microsoft.com/office/powerpoint/2012/main" timeZoneBias="-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96C4BD-EA6B-4E11-871B-1C8BCD52F50A}" type="doc">
      <dgm:prSet loTypeId="urn:microsoft.com/office/officeart/2005/8/layout/vList5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ru-RU"/>
        </a:p>
      </dgm:t>
    </dgm:pt>
    <dgm:pt modelId="{95AD5BC3-20E0-4862-803D-E9C868ED3AE1}">
      <dgm:prSet phldrT="[Текст]"/>
      <dgm:spPr/>
      <dgm:t>
        <a:bodyPr/>
        <a:lstStyle/>
        <a:p>
          <a:r>
            <a:rPr lang="ru-RU" dirty="0" smtClean="0"/>
            <a:t>1. Данные</a:t>
          </a:r>
          <a:endParaRPr lang="ru-RU" dirty="0"/>
        </a:p>
      </dgm:t>
    </dgm:pt>
    <dgm:pt modelId="{9021C14C-A913-4DEA-A150-066369DB93AF}" type="parTrans" cxnId="{D76D87CF-56C4-4869-8733-6F30C447D545}">
      <dgm:prSet/>
      <dgm:spPr/>
      <dgm:t>
        <a:bodyPr/>
        <a:lstStyle/>
        <a:p>
          <a:endParaRPr lang="ru-RU"/>
        </a:p>
      </dgm:t>
    </dgm:pt>
    <dgm:pt modelId="{E17DFEF7-3CF9-4CE1-B40A-DE2D82DF45B6}" type="sibTrans" cxnId="{D76D87CF-56C4-4869-8733-6F30C447D545}">
      <dgm:prSet/>
      <dgm:spPr/>
      <dgm:t>
        <a:bodyPr/>
        <a:lstStyle/>
        <a:p>
          <a:endParaRPr lang="ru-RU"/>
        </a:p>
      </dgm:t>
    </dgm:pt>
    <dgm:pt modelId="{9747EC9F-984B-47BF-AE15-BF03DB67DA4C}">
      <dgm:prSet phldrT="[Текст]"/>
      <dgm:spPr/>
      <dgm:t>
        <a:bodyPr/>
        <a:lstStyle/>
        <a:p>
          <a:r>
            <a:rPr lang="ru-RU" dirty="0" smtClean="0"/>
            <a:t>Загрузка </a:t>
          </a:r>
          <a:r>
            <a:rPr lang="ru-RU" dirty="0" err="1" smtClean="0"/>
            <a:t>датасета</a:t>
          </a:r>
          <a:endParaRPr lang="ru-RU" dirty="0"/>
        </a:p>
      </dgm:t>
    </dgm:pt>
    <dgm:pt modelId="{79DDC23A-2470-4AAE-84EA-65F268F7F340}" type="parTrans" cxnId="{2BE66D27-B85D-4B10-91D3-04023DBC0DFC}">
      <dgm:prSet/>
      <dgm:spPr/>
      <dgm:t>
        <a:bodyPr/>
        <a:lstStyle/>
        <a:p>
          <a:endParaRPr lang="ru-RU"/>
        </a:p>
      </dgm:t>
    </dgm:pt>
    <dgm:pt modelId="{CAE8BEA1-F939-42FA-AD09-D1B4F36D0FAD}" type="sibTrans" cxnId="{2BE66D27-B85D-4B10-91D3-04023DBC0DFC}">
      <dgm:prSet/>
      <dgm:spPr/>
      <dgm:t>
        <a:bodyPr/>
        <a:lstStyle/>
        <a:p>
          <a:endParaRPr lang="ru-RU"/>
        </a:p>
      </dgm:t>
    </dgm:pt>
    <dgm:pt modelId="{78DFA92A-D617-490A-BB30-9F3D0B29CE7D}">
      <dgm:prSet phldrT="[Текст]"/>
      <dgm:spPr/>
      <dgm:t>
        <a:bodyPr/>
        <a:lstStyle/>
        <a:p>
          <a:r>
            <a:rPr lang="ru-RU" b="0" i="0" u="none" dirty="0" smtClean="0"/>
            <a:t>Анализ и очистка (EDA &amp; </a:t>
          </a:r>
          <a:r>
            <a:rPr lang="ru-RU" b="0" i="0" u="none" dirty="0" err="1" smtClean="0"/>
            <a:t>Cleaning</a:t>
          </a:r>
          <a:endParaRPr lang="ru-RU" dirty="0"/>
        </a:p>
      </dgm:t>
    </dgm:pt>
    <dgm:pt modelId="{88F8AB17-210A-4E51-8D2B-65642011D153}" type="parTrans" cxnId="{102A3ED9-5322-49AF-8851-54A9DBCADD22}">
      <dgm:prSet/>
      <dgm:spPr/>
      <dgm:t>
        <a:bodyPr/>
        <a:lstStyle/>
        <a:p>
          <a:endParaRPr lang="ru-RU"/>
        </a:p>
      </dgm:t>
    </dgm:pt>
    <dgm:pt modelId="{4FD10C50-E3D3-498D-9F60-3E89231D66D3}" type="sibTrans" cxnId="{102A3ED9-5322-49AF-8851-54A9DBCADD22}">
      <dgm:prSet/>
      <dgm:spPr/>
      <dgm:t>
        <a:bodyPr/>
        <a:lstStyle/>
        <a:p>
          <a:endParaRPr lang="ru-RU"/>
        </a:p>
      </dgm:t>
    </dgm:pt>
    <dgm:pt modelId="{1B9B43D9-8799-4271-973A-270489D4294A}">
      <dgm:prSet phldrT="[Текст]"/>
      <dgm:spPr/>
      <dgm:t>
        <a:bodyPr/>
        <a:lstStyle/>
        <a:p>
          <a:r>
            <a:rPr lang="ru-RU" dirty="0" smtClean="0"/>
            <a:t>2. Подготовка к </a:t>
          </a:r>
          <a:r>
            <a:rPr lang="en-US" dirty="0" smtClean="0"/>
            <a:t>ML</a:t>
          </a:r>
          <a:endParaRPr lang="ru-RU" dirty="0"/>
        </a:p>
      </dgm:t>
    </dgm:pt>
    <dgm:pt modelId="{18F82E70-2BD1-4DB3-B35D-9E280B5886F1}" type="parTrans" cxnId="{C6C78481-0499-47D2-8BE0-1E813681E851}">
      <dgm:prSet/>
      <dgm:spPr/>
      <dgm:t>
        <a:bodyPr/>
        <a:lstStyle/>
        <a:p>
          <a:endParaRPr lang="ru-RU"/>
        </a:p>
      </dgm:t>
    </dgm:pt>
    <dgm:pt modelId="{68F050AD-B8B1-4662-B7B8-84D374D6AD54}" type="sibTrans" cxnId="{C6C78481-0499-47D2-8BE0-1E813681E851}">
      <dgm:prSet/>
      <dgm:spPr/>
      <dgm:t>
        <a:bodyPr/>
        <a:lstStyle/>
        <a:p>
          <a:endParaRPr lang="ru-RU"/>
        </a:p>
      </dgm:t>
    </dgm:pt>
    <dgm:pt modelId="{5F9AC213-D6DB-4494-B129-B0EABAB7652D}">
      <dgm:prSet phldrT="[Текст]"/>
      <dgm:spPr/>
      <dgm:t>
        <a:bodyPr/>
        <a:lstStyle/>
        <a:p>
          <a:r>
            <a:rPr lang="ru-RU" b="0" i="0" u="none" dirty="0" smtClean="0"/>
            <a:t>Логарифмирование целевой переменной (</a:t>
          </a:r>
          <a:r>
            <a:rPr lang="en-US" b="0" i="0" u="none" dirty="0" smtClean="0"/>
            <a:t>views)</a:t>
          </a:r>
          <a:endParaRPr lang="ru-RU" dirty="0"/>
        </a:p>
      </dgm:t>
    </dgm:pt>
    <dgm:pt modelId="{52732344-79BB-4DCD-83AA-F7D076DB60CD}" type="parTrans" cxnId="{ED23DADE-2394-4960-B234-099E0BE91D9C}">
      <dgm:prSet/>
      <dgm:spPr/>
      <dgm:t>
        <a:bodyPr/>
        <a:lstStyle/>
        <a:p>
          <a:endParaRPr lang="ru-RU"/>
        </a:p>
      </dgm:t>
    </dgm:pt>
    <dgm:pt modelId="{7F0C2CC8-A9FC-40D5-A04E-63710A4066EA}" type="sibTrans" cxnId="{ED23DADE-2394-4960-B234-099E0BE91D9C}">
      <dgm:prSet/>
      <dgm:spPr/>
      <dgm:t>
        <a:bodyPr/>
        <a:lstStyle/>
        <a:p>
          <a:endParaRPr lang="ru-RU"/>
        </a:p>
      </dgm:t>
    </dgm:pt>
    <dgm:pt modelId="{E36FA39D-2A9E-454E-AFD0-46F02C37C8C4}">
      <dgm:prSet phldrT="[Текст]"/>
      <dgm:spPr/>
      <dgm:t>
        <a:bodyPr/>
        <a:lstStyle/>
        <a:p>
          <a:r>
            <a:rPr lang="ru-RU" dirty="0" smtClean="0"/>
            <a:t>3. Создание модели</a:t>
          </a:r>
          <a:endParaRPr lang="ru-RU" dirty="0"/>
        </a:p>
      </dgm:t>
    </dgm:pt>
    <dgm:pt modelId="{D47146A0-6B3A-4304-9F74-E53B198AF63C}" type="parTrans" cxnId="{491C37B8-FDF5-48C0-B758-2C70D2DE603F}">
      <dgm:prSet/>
      <dgm:spPr/>
      <dgm:t>
        <a:bodyPr/>
        <a:lstStyle/>
        <a:p>
          <a:endParaRPr lang="ru-RU"/>
        </a:p>
      </dgm:t>
    </dgm:pt>
    <dgm:pt modelId="{388AD463-0E55-407A-BD57-46C515F232E4}" type="sibTrans" cxnId="{491C37B8-FDF5-48C0-B758-2C70D2DE603F}">
      <dgm:prSet/>
      <dgm:spPr/>
      <dgm:t>
        <a:bodyPr/>
        <a:lstStyle/>
        <a:p>
          <a:endParaRPr lang="ru-RU"/>
        </a:p>
      </dgm:t>
    </dgm:pt>
    <dgm:pt modelId="{1E5450B8-91AE-4F7F-BBC2-DA614AB152A8}">
      <dgm:prSet phldrT="[Текст]"/>
      <dgm:spPr/>
      <dgm:t>
        <a:bodyPr/>
        <a:lstStyle/>
        <a:p>
          <a:r>
            <a:rPr lang="ru-RU" b="0" i="0" u="none" dirty="0" smtClean="0"/>
            <a:t>Обучение нейронной сети (</a:t>
          </a:r>
          <a:r>
            <a:rPr lang="ru-RU" b="0" i="0" u="none" dirty="0" err="1" smtClean="0"/>
            <a:t>Keras</a:t>
          </a:r>
          <a:r>
            <a:rPr lang="ru-RU" b="0" i="0" u="none" dirty="0" smtClean="0"/>
            <a:t>) и </a:t>
          </a:r>
          <a:r>
            <a:rPr lang="ru-RU" b="0" i="0" u="none" dirty="0" err="1" smtClean="0"/>
            <a:t>Random</a:t>
          </a:r>
          <a:r>
            <a:rPr lang="ru-RU" b="0" i="0" u="none" dirty="0" smtClean="0"/>
            <a:t> </a:t>
          </a:r>
          <a:r>
            <a:rPr lang="ru-RU" b="0" i="0" u="none" dirty="0" err="1" smtClean="0"/>
            <a:t>Forest</a:t>
          </a:r>
          <a:endParaRPr lang="ru-RU" dirty="0"/>
        </a:p>
      </dgm:t>
    </dgm:pt>
    <dgm:pt modelId="{FB4B3278-1FC9-4D7A-BA3E-5566037B57D9}" type="parTrans" cxnId="{E0C55688-EC5A-4FAA-A7A4-5B6153E82A38}">
      <dgm:prSet/>
      <dgm:spPr/>
      <dgm:t>
        <a:bodyPr/>
        <a:lstStyle/>
        <a:p>
          <a:endParaRPr lang="ru-RU"/>
        </a:p>
      </dgm:t>
    </dgm:pt>
    <dgm:pt modelId="{6E421221-A085-4A7D-8465-3CF202F8409A}" type="sibTrans" cxnId="{E0C55688-EC5A-4FAA-A7A4-5B6153E82A38}">
      <dgm:prSet/>
      <dgm:spPr/>
      <dgm:t>
        <a:bodyPr/>
        <a:lstStyle/>
        <a:p>
          <a:endParaRPr lang="ru-RU"/>
        </a:p>
      </dgm:t>
    </dgm:pt>
    <dgm:pt modelId="{C4A5E99F-F1F2-4E3F-81DB-D32BF57C3479}">
      <dgm:prSet phldrT="[Текст]"/>
      <dgm:spPr/>
      <dgm:t>
        <a:bodyPr/>
        <a:lstStyle/>
        <a:p>
          <a:r>
            <a:rPr lang="ru-RU" b="0" i="0" u="none" dirty="0" smtClean="0"/>
            <a:t>Оценка качества (R², MAE)</a:t>
          </a:r>
          <a:endParaRPr lang="ru-RU" dirty="0"/>
        </a:p>
      </dgm:t>
    </dgm:pt>
    <dgm:pt modelId="{657AA0D6-C480-4BAB-92E7-83ED8FCC65C7}" type="parTrans" cxnId="{79751189-9364-4E83-B259-229419FE258D}">
      <dgm:prSet/>
      <dgm:spPr/>
      <dgm:t>
        <a:bodyPr/>
        <a:lstStyle/>
        <a:p>
          <a:endParaRPr lang="ru-RU"/>
        </a:p>
      </dgm:t>
    </dgm:pt>
    <dgm:pt modelId="{CE3FA759-F3F7-43AF-BB56-9D8DBDAFE009}" type="sibTrans" cxnId="{79751189-9364-4E83-B259-229419FE258D}">
      <dgm:prSet/>
      <dgm:spPr/>
      <dgm:t>
        <a:bodyPr/>
        <a:lstStyle/>
        <a:p>
          <a:endParaRPr lang="ru-RU"/>
        </a:p>
      </dgm:t>
    </dgm:pt>
    <dgm:pt modelId="{67A8401E-0810-4CE3-98D9-F0EA290F009C}">
      <dgm:prSet phldrT="[Текст]"/>
      <dgm:spPr/>
      <dgm:t>
        <a:bodyPr/>
        <a:lstStyle/>
        <a:p>
          <a:r>
            <a:rPr lang="ru-RU" b="0" i="0" u="none" dirty="0" smtClean="0"/>
            <a:t>Выбор признаков, масштабирование, разделение на выборки.</a:t>
          </a:r>
          <a:endParaRPr lang="ru-RU" dirty="0"/>
        </a:p>
      </dgm:t>
    </dgm:pt>
    <dgm:pt modelId="{984A967C-34A7-4DD0-AC8C-3DEA7A8152FC}" type="parTrans" cxnId="{409C73F9-EFB8-4F7C-8E97-D741C2F30177}">
      <dgm:prSet/>
      <dgm:spPr/>
      <dgm:t>
        <a:bodyPr/>
        <a:lstStyle/>
        <a:p>
          <a:endParaRPr lang="ru-RU"/>
        </a:p>
      </dgm:t>
    </dgm:pt>
    <dgm:pt modelId="{C4AB2842-2FB4-4525-80F4-88C475622540}" type="sibTrans" cxnId="{409C73F9-EFB8-4F7C-8E97-D741C2F30177}">
      <dgm:prSet/>
      <dgm:spPr/>
      <dgm:t>
        <a:bodyPr/>
        <a:lstStyle/>
        <a:p>
          <a:endParaRPr lang="ru-RU"/>
        </a:p>
      </dgm:t>
    </dgm:pt>
    <dgm:pt modelId="{ED3C1107-97EA-4791-BA6C-BD38DAE54C31}">
      <dgm:prSet phldrT="[Текст]"/>
      <dgm:spPr/>
      <dgm:t>
        <a:bodyPr/>
        <a:lstStyle/>
        <a:p>
          <a:pPr rtl="0"/>
          <a:r>
            <a:rPr lang="ru-RU" b="0" i="0" u="none" dirty="0" smtClean="0"/>
            <a:t>Анализ важности признаков, визуализация предсказаний</a:t>
          </a:r>
          <a:endParaRPr lang="ru-RU" dirty="0"/>
        </a:p>
      </dgm:t>
    </dgm:pt>
    <dgm:pt modelId="{C6EDE748-FA40-485D-900E-51F6E70C1606}" type="parTrans" cxnId="{B68C0747-B94B-42AB-8E93-222E3E3E8A7E}">
      <dgm:prSet/>
      <dgm:spPr/>
      <dgm:t>
        <a:bodyPr/>
        <a:lstStyle/>
        <a:p>
          <a:endParaRPr lang="ru-RU"/>
        </a:p>
      </dgm:t>
    </dgm:pt>
    <dgm:pt modelId="{9A4F4D1C-0D74-46C7-A194-90E98BFB06D1}" type="sibTrans" cxnId="{B68C0747-B94B-42AB-8E93-222E3E3E8A7E}">
      <dgm:prSet/>
      <dgm:spPr/>
      <dgm:t>
        <a:bodyPr/>
        <a:lstStyle/>
        <a:p>
          <a:endParaRPr lang="ru-RU"/>
        </a:p>
      </dgm:t>
    </dgm:pt>
    <dgm:pt modelId="{0CDFB5A4-1451-4E1F-BAB3-032F35E011CE}" type="pres">
      <dgm:prSet presAssocID="{AD96C4BD-EA6B-4E11-871B-1C8BCD52F50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1082F81-71FC-479E-866E-2008975191CF}" type="pres">
      <dgm:prSet presAssocID="{95AD5BC3-20E0-4862-803D-E9C868ED3AE1}" presName="linNode" presStyleCnt="0"/>
      <dgm:spPr/>
    </dgm:pt>
    <dgm:pt modelId="{AAB2E0B8-9744-43A7-A19B-B60CB65F72F4}" type="pres">
      <dgm:prSet presAssocID="{95AD5BC3-20E0-4862-803D-E9C868ED3AE1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1C74E16-22E3-4B34-A7DB-0CDE040E48C6}" type="pres">
      <dgm:prSet presAssocID="{95AD5BC3-20E0-4862-803D-E9C868ED3AE1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AC4A56D-1B4B-4297-84AC-9A6A2F31F30B}" type="pres">
      <dgm:prSet presAssocID="{E17DFEF7-3CF9-4CE1-B40A-DE2D82DF45B6}" presName="sp" presStyleCnt="0"/>
      <dgm:spPr/>
    </dgm:pt>
    <dgm:pt modelId="{A09BCBA4-F61D-4890-9884-D7A993CBBD52}" type="pres">
      <dgm:prSet presAssocID="{1B9B43D9-8799-4271-973A-270489D4294A}" presName="linNode" presStyleCnt="0"/>
      <dgm:spPr/>
    </dgm:pt>
    <dgm:pt modelId="{6372C59E-7DD4-49C5-A89E-37E2FEA2EE9E}" type="pres">
      <dgm:prSet presAssocID="{1B9B43D9-8799-4271-973A-270489D4294A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B8F11D-19A1-418C-AD9C-B87995F815B4}" type="pres">
      <dgm:prSet presAssocID="{1B9B43D9-8799-4271-973A-270489D4294A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8D033B-85FC-4FE8-A62A-AC7E753CCD1F}" type="pres">
      <dgm:prSet presAssocID="{68F050AD-B8B1-4662-B7B8-84D374D6AD54}" presName="sp" presStyleCnt="0"/>
      <dgm:spPr/>
    </dgm:pt>
    <dgm:pt modelId="{424C53FF-01AD-49BB-AADF-16900746A2C9}" type="pres">
      <dgm:prSet presAssocID="{E36FA39D-2A9E-454E-AFD0-46F02C37C8C4}" presName="linNode" presStyleCnt="0"/>
      <dgm:spPr/>
    </dgm:pt>
    <dgm:pt modelId="{9C57E151-185D-4603-A5DF-531ADA6696E5}" type="pres">
      <dgm:prSet presAssocID="{E36FA39D-2A9E-454E-AFD0-46F02C37C8C4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144AA0-EEAD-47BF-A7C8-3AF9CF5529DC}" type="pres">
      <dgm:prSet presAssocID="{E36FA39D-2A9E-454E-AFD0-46F02C37C8C4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9C3E8E2-E4CA-4F41-B4FE-8BA6266B505D}" type="presOf" srcId="{95AD5BC3-20E0-4862-803D-E9C868ED3AE1}" destId="{AAB2E0B8-9744-43A7-A19B-B60CB65F72F4}" srcOrd="0" destOrd="0" presId="urn:microsoft.com/office/officeart/2005/8/layout/vList5"/>
    <dgm:cxn modelId="{44D84146-E5AB-4C87-9E81-2BB1766BCB7B}" type="presOf" srcId="{67A8401E-0810-4CE3-98D9-F0EA290F009C}" destId="{C1B8F11D-19A1-418C-AD9C-B87995F815B4}" srcOrd="0" destOrd="1" presId="urn:microsoft.com/office/officeart/2005/8/layout/vList5"/>
    <dgm:cxn modelId="{409C73F9-EFB8-4F7C-8E97-D741C2F30177}" srcId="{1B9B43D9-8799-4271-973A-270489D4294A}" destId="{67A8401E-0810-4CE3-98D9-F0EA290F009C}" srcOrd="1" destOrd="0" parTransId="{984A967C-34A7-4DD0-AC8C-3DEA7A8152FC}" sibTransId="{C4AB2842-2FB4-4525-80F4-88C475622540}"/>
    <dgm:cxn modelId="{1E443FB7-4F60-467A-86EE-483707B45000}" type="presOf" srcId="{5F9AC213-D6DB-4494-B129-B0EABAB7652D}" destId="{C1B8F11D-19A1-418C-AD9C-B87995F815B4}" srcOrd="0" destOrd="0" presId="urn:microsoft.com/office/officeart/2005/8/layout/vList5"/>
    <dgm:cxn modelId="{E871CCE0-3F6B-42FF-B2EC-E1E88D083398}" type="presOf" srcId="{1B9B43D9-8799-4271-973A-270489D4294A}" destId="{6372C59E-7DD4-49C5-A89E-37E2FEA2EE9E}" srcOrd="0" destOrd="0" presId="urn:microsoft.com/office/officeart/2005/8/layout/vList5"/>
    <dgm:cxn modelId="{102A3ED9-5322-49AF-8851-54A9DBCADD22}" srcId="{95AD5BC3-20E0-4862-803D-E9C868ED3AE1}" destId="{78DFA92A-D617-490A-BB30-9F3D0B29CE7D}" srcOrd="1" destOrd="0" parTransId="{88F8AB17-210A-4E51-8D2B-65642011D153}" sibTransId="{4FD10C50-E3D3-498D-9F60-3E89231D66D3}"/>
    <dgm:cxn modelId="{ED23DADE-2394-4960-B234-099E0BE91D9C}" srcId="{1B9B43D9-8799-4271-973A-270489D4294A}" destId="{5F9AC213-D6DB-4494-B129-B0EABAB7652D}" srcOrd="0" destOrd="0" parTransId="{52732344-79BB-4DCD-83AA-F7D076DB60CD}" sibTransId="{7F0C2CC8-A9FC-40D5-A04E-63710A4066EA}"/>
    <dgm:cxn modelId="{2BE66D27-B85D-4B10-91D3-04023DBC0DFC}" srcId="{95AD5BC3-20E0-4862-803D-E9C868ED3AE1}" destId="{9747EC9F-984B-47BF-AE15-BF03DB67DA4C}" srcOrd="0" destOrd="0" parTransId="{79DDC23A-2470-4AAE-84EA-65F268F7F340}" sibTransId="{CAE8BEA1-F939-42FA-AD09-D1B4F36D0FAD}"/>
    <dgm:cxn modelId="{A7E40E4C-8485-4127-A943-0AB438CBEF30}" type="presOf" srcId="{9747EC9F-984B-47BF-AE15-BF03DB67DA4C}" destId="{51C74E16-22E3-4B34-A7DB-0CDE040E48C6}" srcOrd="0" destOrd="0" presId="urn:microsoft.com/office/officeart/2005/8/layout/vList5"/>
    <dgm:cxn modelId="{59F8BB47-90AF-4CAB-9B48-F2C5A9AE6DC7}" type="presOf" srcId="{E36FA39D-2A9E-454E-AFD0-46F02C37C8C4}" destId="{9C57E151-185D-4603-A5DF-531ADA6696E5}" srcOrd="0" destOrd="0" presId="urn:microsoft.com/office/officeart/2005/8/layout/vList5"/>
    <dgm:cxn modelId="{0D78F07D-B0CC-4AE6-BA07-6FB9D39E98DD}" type="presOf" srcId="{78DFA92A-D617-490A-BB30-9F3D0B29CE7D}" destId="{51C74E16-22E3-4B34-A7DB-0CDE040E48C6}" srcOrd="0" destOrd="1" presId="urn:microsoft.com/office/officeart/2005/8/layout/vList5"/>
    <dgm:cxn modelId="{B68C0747-B94B-42AB-8E93-222E3E3E8A7E}" srcId="{E36FA39D-2A9E-454E-AFD0-46F02C37C8C4}" destId="{ED3C1107-97EA-4791-BA6C-BD38DAE54C31}" srcOrd="2" destOrd="0" parTransId="{C6EDE748-FA40-485D-900E-51F6E70C1606}" sibTransId="{9A4F4D1C-0D74-46C7-A194-90E98BFB06D1}"/>
    <dgm:cxn modelId="{C6C78481-0499-47D2-8BE0-1E813681E851}" srcId="{AD96C4BD-EA6B-4E11-871B-1C8BCD52F50A}" destId="{1B9B43D9-8799-4271-973A-270489D4294A}" srcOrd="1" destOrd="0" parTransId="{18F82E70-2BD1-4DB3-B35D-9E280B5886F1}" sibTransId="{68F050AD-B8B1-4662-B7B8-84D374D6AD54}"/>
    <dgm:cxn modelId="{AA3F68B7-55C0-4F1C-B9F3-BF2C75784DF3}" type="presOf" srcId="{1E5450B8-91AE-4F7F-BBC2-DA614AB152A8}" destId="{D1144AA0-EEAD-47BF-A7C8-3AF9CF5529DC}" srcOrd="0" destOrd="0" presId="urn:microsoft.com/office/officeart/2005/8/layout/vList5"/>
    <dgm:cxn modelId="{D76D87CF-56C4-4869-8733-6F30C447D545}" srcId="{AD96C4BD-EA6B-4E11-871B-1C8BCD52F50A}" destId="{95AD5BC3-20E0-4862-803D-E9C868ED3AE1}" srcOrd="0" destOrd="0" parTransId="{9021C14C-A913-4DEA-A150-066369DB93AF}" sibTransId="{E17DFEF7-3CF9-4CE1-B40A-DE2D82DF45B6}"/>
    <dgm:cxn modelId="{491C37B8-FDF5-48C0-B758-2C70D2DE603F}" srcId="{AD96C4BD-EA6B-4E11-871B-1C8BCD52F50A}" destId="{E36FA39D-2A9E-454E-AFD0-46F02C37C8C4}" srcOrd="2" destOrd="0" parTransId="{D47146A0-6B3A-4304-9F74-E53B198AF63C}" sibTransId="{388AD463-0E55-407A-BD57-46C515F232E4}"/>
    <dgm:cxn modelId="{79751189-9364-4E83-B259-229419FE258D}" srcId="{E36FA39D-2A9E-454E-AFD0-46F02C37C8C4}" destId="{C4A5E99F-F1F2-4E3F-81DB-D32BF57C3479}" srcOrd="1" destOrd="0" parTransId="{657AA0D6-C480-4BAB-92E7-83ED8FCC65C7}" sibTransId="{CE3FA759-F3F7-43AF-BB56-9D8DBDAFE009}"/>
    <dgm:cxn modelId="{E0C55688-EC5A-4FAA-A7A4-5B6153E82A38}" srcId="{E36FA39D-2A9E-454E-AFD0-46F02C37C8C4}" destId="{1E5450B8-91AE-4F7F-BBC2-DA614AB152A8}" srcOrd="0" destOrd="0" parTransId="{FB4B3278-1FC9-4D7A-BA3E-5566037B57D9}" sibTransId="{6E421221-A085-4A7D-8465-3CF202F8409A}"/>
    <dgm:cxn modelId="{FD17F3DC-5700-49F5-939D-2A662018FEBD}" type="presOf" srcId="{AD96C4BD-EA6B-4E11-871B-1C8BCD52F50A}" destId="{0CDFB5A4-1451-4E1F-BAB3-032F35E011CE}" srcOrd="0" destOrd="0" presId="urn:microsoft.com/office/officeart/2005/8/layout/vList5"/>
    <dgm:cxn modelId="{BEB56DC0-D201-461C-8973-B1627D45341D}" type="presOf" srcId="{ED3C1107-97EA-4791-BA6C-BD38DAE54C31}" destId="{D1144AA0-EEAD-47BF-A7C8-3AF9CF5529DC}" srcOrd="0" destOrd="2" presId="urn:microsoft.com/office/officeart/2005/8/layout/vList5"/>
    <dgm:cxn modelId="{7BBE1733-43BA-4907-BAEB-B92D511EB8C6}" type="presOf" srcId="{C4A5E99F-F1F2-4E3F-81DB-D32BF57C3479}" destId="{D1144AA0-EEAD-47BF-A7C8-3AF9CF5529DC}" srcOrd="0" destOrd="1" presId="urn:microsoft.com/office/officeart/2005/8/layout/vList5"/>
    <dgm:cxn modelId="{78C2996A-1647-49CF-AA02-30824ECD1207}" type="presParOf" srcId="{0CDFB5A4-1451-4E1F-BAB3-032F35E011CE}" destId="{51082F81-71FC-479E-866E-2008975191CF}" srcOrd="0" destOrd="0" presId="urn:microsoft.com/office/officeart/2005/8/layout/vList5"/>
    <dgm:cxn modelId="{33D1B3F8-B37C-4561-8B95-A8DF26C957D3}" type="presParOf" srcId="{51082F81-71FC-479E-866E-2008975191CF}" destId="{AAB2E0B8-9744-43A7-A19B-B60CB65F72F4}" srcOrd="0" destOrd="0" presId="urn:microsoft.com/office/officeart/2005/8/layout/vList5"/>
    <dgm:cxn modelId="{ED13D4A4-86AD-4466-BD8B-B2F0248AE77F}" type="presParOf" srcId="{51082F81-71FC-479E-866E-2008975191CF}" destId="{51C74E16-22E3-4B34-A7DB-0CDE040E48C6}" srcOrd="1" destOrd="0" presId="urn:microsoft.com/office/officeart/2005/8/layout/vList5"/>
    <dgm:cxn modelId="{F50263F2-CA65-4ABD-8E48-A951857E9682}" type="presParOf" srcId="{0CDFB5A4-1451-4E1F-BAB3-032F35E011CE}" destId="{1AC4A56D-1B4B-4297-84AC-9A6A2F31F30B}" srcOrd="1" destOrd="0" presId="urn:microsoft.com/office/officeart/2005/8/layout/vList5"/>
    <dgm:cxn modelId="{DF17D59B-1CE0-4BD5-A562-114F82F9C3BB}" type="presParOf" srcId="{0CDFB5A4-1451-4E1F-BAB3-032F35E011CE}" destId="{A09BCBA4-F61D-4890-9884-D7A993CBBD52}" srcOrd="2" destOrd="0" presId="urn:microsoft.com/office/officeart/2005/8/layout/vList5"/>
    <dgm:cxn modelId="{E56407C7-7F0D-430F-B0AB-B8F706D8B292}" type="presParOf" srcId="{A09BCBA4-F61D-4890-9884-D7A993CBBD52}" destId="{6372C59E-7DD4-49C5-A89E-37E2FEA2EE9E}" srcOrd="0" destOrd="0" presId="urn:microsoft.com/office/officeart/2005/8/layout/vList5"/>
    <dgm:cxn modelId="{D57AEAAF-D49D-4BFE-AFAA-0F59431D53D9}" type="presParOf" srcId="{A09BCBA4-F61D-4890-9884-D7A993CBBD52}" destId="{C1B8F11D-19A1-418C-AD9C-B87995F815B4}" srcOrd="1" destOrd="0" presId="urn:microsoft.com/office/officeart/2005/8/layout/vList5"/>
    <dgm:cxn modelId="{5A8AE6D5-402A-4033-95DA-608066BC348D}" type="presParOf" srcId="{0CDFB5A4-1451-4E1F-BAB3-032F35E011CE}" destId="{618D033B-85FC-4FE8-A62A-AC7E753CCD1F}" srcOrd="3" destOrd="0" presId="urn:microsoft.com/office/officeart/2005/8/layout/vList5"/>
    <dgm:cxn modelId="{5659BEDF-6B5F-497E-BA74-A362A8345AF7}" type="presParOf" srcId="{0CDFB5A4-1451-4E1F-BAB3-032F35E011CE}" destId="{424C53FF-01AD-49BB-AADF-16900746A2C9}" srcOrd="4" destOrd="0" presId="urn:microsoft.com/office/officeart/2005/8/layout/vList5"/>
    <dgm:cxn modelId="{2648DCF9-6A6A-4701-9917-9D8B82087B82}" type="presParOf" srcId="{424C53FF-01AD-49BB-AADF-16900746A2C9}" destId="{9C57E151-185D-4603-A5DF-531ADA6696E5}" srcOrd="0" destOrd="0" presId="urn:microsoft.com/office/officeart/2005/8/layout/vList5"/>
    <dgm:cxn modelId="{249E1D7F-68C9-40BC-BEB0-D8BBE7540FD9}" type="presParOf" srcId="{424C53FF-01AD-49BB-AADF-16900746A2C9}" destId="{D1144AA0-EEAD-47BF-A7C8-3AF9CF5529D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6B9AE8-FCC4-441E-A73F-A90876D693E2}" type="doc">
      <dgm:prSet loTypeId="urn:microsoft.com/office/officeart/2005/8/layout/process1" loCatId="process" qsTypeId="urn:microsoft.com/office/officeart/2005/8/quickstyle/simple1" qsCatId="simple" csTypeId="urn:microsoft.com/office/officeart/2005/8/colors/accent5_4" csCatId="accent5" phldr="1"/>
      <dgm:spPr/>
    </dgm:pt>
    <dgm:pt modelId="{6AA5CBC7-1655-41B2-ACD6-E9DCD0134D2A}">
      <dgm:prSet phldrT="[Текст]"/>
      <dgm:spPr/>
      <dgm:t>
        <a:bodyPr/>
        <a:lstStyle/>
        <a:p>
          <a:r>
            <a:rPr lang="ru-RU" dirty="0" smtClean="0"/>
            <a:t>Вход (4 нейрона):  </a:t>
          </a:r>
          <a:r>
            <a:rPr lang="en-US" b="0" i="0" u="none" dirty="0" smtClean="0"/>
            <a:t>likes, dislikes, comments, category</a:t>
          </a:r>
          <a:endParaRPr lang="ru-RU" dirty="0"/>
        </a:p>
      </dgm:t>
    </dgm:pt>
    <dgm:pt modelId="{BD64583E-D457-4605-BF65-9490E5D9B2DB}" type="parTrans" cxnId="{2ADE6BED-65FD-4C2A-A16B-830BF93C7E7E}">
      <dgm:prSet/>
      <dgm:spPr/>
      <dgm:t>
        <a:bodyPr/>
        <a:lstStyle/>
        <a:p>
          <a:endParaRPr lang="ru-RU"/>
        </a:p>
      </dgm:t>
    </dgm:pt>
    <dgm:pt modelId="{71EBEAA6-549A-4C1B-8D39-66F7FB9C088A}" type="sibTrans" cxnId="{2ADE6BED-65FD-4C2A-A16B-830BF93C7E7E}">
      <dgm:prSet/>
      <dgm:spPr/>
      <dgm:t>
        <a:bodyPr/>
        <a:lstStyle/>
        <a:p>
          <a:endParaRPr lang="ru-RU"/>
        </a:p>
      </dgm:t>
    </dgm:pt>
    <dgm:pt modelId="{004606EE-1C15-4375-BA02-757C7056792D}">
      <dgm:prSet phldrT="[Текст]"/>
      <dgm:spPr/>
      <dgm:t>
        <a:bodyPr/>
        <a:lstStyle/>
        <a:p>
          <a:r>
            <a:rPr lang="ru-RU" b="0" i="0" u="none" dirty="0" smtClean="0"/>
            <a:t>Скрытые слои: </a:t>
          </a:r>
          <a:r>
            <a:rPr lang="en-US" b="0" i="0" u="none" dirty="0" smtClean="0"/>
            <a:t>Dense(128) → Dropout → Dense(64) → Dense(32).</a:t>
          </a:r>
          <a:endParaRPr lang="ru-RU" dirty="0"/>
        </a:p>
      </dgm:t>
    </dgm:pt>
    <dgm:pt modelId="{B1FF613E-7E91-4FC7-B77E-F5A17D9E5BC0}" type="parTrans" cxnId="{4A1AB81B-6342-4029-9DAA-A65458535E52}">
      <dgm:prSet/>
      <dgm:spPr/>
      <dgm:t>
        <a:bodyPr/>
        <a:lstStyle/>
        <a:p>
          <a:endParaRPr lang="ru-RU"/>
        </a:p>
      </dgm:t>
    </dgm:pt>
    <dgm:pt modelId="{B3A28A78-CF0E-4737-9F7D-398607436C7B}" type="sibTrans" cxnId="{4A1AB81B-6342-4029-9DAA-A65458535E52}">
      <dgm:prSet/>
      <dgm:spPr/>
      <dgm:t>
        <a:bodyPr/>
        <a:lstStyle/>
        <a:p>
          <a:endParaRPr lang="ru-RU"/>
        </a:p>
      </dgm:t>
    </dgm:pt>
    <dgm:pt modelId="{25285FFF-3BB3-49ED-8CE1-2CC0FE65E6B5}">
      <dgm:prSet phldrT="[Текст]"/>
      <dgm:spPr/>
      <dgm:t>
        <a:bodyPr/>
        <a:lstStyle/>
        <a:p>
          <a:r>
            <a:rPr lang="ru-RU" b="0" i="0" u="none" dirty="0" smtClean="0"/>
            <a:t>Выход (1 нейрон): Предсказание </a:t>
          </a:r>
          <a:r>
            <a:rPr lang="ru-RU" b="0" i="0" u="none" dirty="0" err="1" smtClean="0"/>
            <a:t>log</a:t>
          </a:r>
          <a:r>
            <a:rPr lang="ru-RU" b="0" i="0" u="none" dirty="0" smtClean="0"/>
            <a:t>(</a:t>
          </a:r>
          <a:r>
            <a:rPr lang="ru-RU" b="0" i="0" u="none" dirty="0" err="1" smtClean="0"/>
            <a:t>views</a:t>
          </a:r>
          <a:r>
            <a:rPr lang="ru-RU" b="0" i="0" u="none" dirty="0" smtClean="0"/>
            <a:t>).</a:t>
          </a:r>
          <a:endParaRPr lang="ru-RU" dirty="0"/>
        </a:p>
      </dgm:t>
    </dgm:pt>
    <dgm:pt modelId="{7AE39070-10A2-4770-87DE-288E4023BE65}" type="parTrans" cxnId="{F47B7A01-FFD0-42E2-B366-DA21B4231F73}">
      <dgm:prSet/>
      <dgm:spPr/>
      <dgm:t>
        <a:bodyPr/>
        <a:lstStyle/>
        <a:p>
          <a:endParaRPr lang="ru-RU"/>
        </a:p>
      </dgm:t>
    </dgm:pt>
    <dgm:pt modelId="{F33EAE3F-9CBA-4D6D-8118-A19F657E37BF}" type="sibTrans" cxnId="{F47B7A01-FFD0-42E2-B366-DA21B4231F73}">
      <dgm:prSet/>
      <dgm:spPr/>
      <dgm:t>
        <a:bodyPr/>
        <a:lstStyle/>
        <a:p>
          <a:endParaRPr lang="ru-RU"/>
        </a:p>
      </dgm:t>
    </dgm:pt>
    <dgm:pt modelId="{1A8BED84-11CA-4F11-B741-8BD95DB327E5}" type="pres">
      <dgm:prSet presAssocID="{E66B9AE8-FCC4-441E-A73F-A90876D693E2}" presName="Name0" presStyleCnt="0">
        <dgm:presLayoutVars>
          <dgm:dir/>
          <dgm:resizeHandles val="exact"/>
        </dgm:presLayoutVars>
      </dgm:prSet>
      <dgm:spPr/>
    </dgm:pt>
    <dgm:pt modelId="{F35461E0-34C2-4FA3-8726-0903B9106DD4}" type="pres">
      <dgm:prSet presAssocID="{6AA5CBC7-1655-41B2-ACD6-E9DCD0134D2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FF939A-4CF0-4512-A5DA-A0E3ED7AE515}" type="pres">
      <dgm:prSet presAssocID="{71EBEAA6-549A-4C1B-8D39-66F7FB9C088A}" presName="sibTrans" presStyleLbl="sibTrans2D1" presStyleIdx="0" presStyleCnt="2"/>
      <dgm:spPr/>
      <dgm:t>
        <a:bodyPr/>
        <a:lstStyle/>
        <a:p>
          <a:endParaRPr lang="ru-RU"/>
        </a:p>
      </dgm:t>
    </dgm:pt>
    <dgm:pt modelId="{24B3A818-C60D-4AA6-9232-1A2A42C28297}" type="pres">
      <dgm:prSet presAssocID="{71EBEAA6-549A-4C1B-8D39-66F7FB9C088A}" presName="connectorText" presStyleLbl="sibTrans2D1" presStyleIdx="0" presStyleCnt="2"/>
      <dgm:spPr/>
      <dgm:t>
        <a:bodyPr/>
        <a:lstStyle/>
        <a:p>
          <a:endParaRPr lang="ru-RU"/>
        </a:p>
      </dgm:t>
    </dgm:pt>
    <dgm:pt modelId="{27FADC35-4293-44AB-89B4-6A4AAD7CB250}" type="pres">
      <dgm:prSet presAssocID="{004606EE-1C15-4375-BA02-757C7056792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DFB467-679E-4CEF-8563-530B03ED3C7E}" type="pres">
      <dgm:prSet presAssocID="{B3A28A78-CF0E-4737-9F7D-398607436C7B}" presName="sibTrans" presStyleLbl="sibTrans2D1" presStyleIdx="1" presStyleCnt="2"/>
      <dgm:spPr/>
      <dgm:t>
        <a:bodyPr/>
        <a:lstStyle/>
        <a:p>
          <a:endParaRPr lang="ru-RU"/>
        </a:p>
      </dgm:t>
    </dgm:pt>
    <dgm:pt modelId="{9CF64848-23F0-43F0-95C3-E2990D77462B}" type="pres">
      <dgm:prSet presAssocID="{B3A28A78-CF0E-4737-9F7D-398607436C7B}" presName="connectorText" presStyleLbl="sibTrans2D1" presStyleIdx="1" presStyleCnt="2"/>
      <dgm:spPr/>
      <dgm:t>
        <a:bodyPr/>
        <a:lstStyle/>
        <a:p>
          <a:endParaRPr lang="ru-RU"/>
        </a:p>
      </dgm:t>
    </dgm:pt>
    <dgm:pt modelId="{F3EA6325-EC7C-4E4B-8BF0-A346E2F05F8E}" type="pres">
      <dgm:prSet presAssocID="{25285FFF-3BB3-49ED-8CE1-2CC0FE65E6B5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F76CFBF-D618-41CE-9CAB-2DBC12BD6F60}" type="presOf" srcId="{B3A28A78-CF0E-4737-9F7D-398607436C7B}" destId="{9CF64848-23F0-43F0-95C3-E2990D77462B}" srcOrd="1" destOrd="0" presId="urn:microsoft.com/office/officeart/2005/8/layout/process1"/>
    <dgm:cxn modelId="{B0BC35FA-4C5F-414F-A2D7-0F727F76CF6A}" type="presOf" srcId="{6AA5CBC7-1655-41B2-ACD6-E9DCD0134D2A}" destId="{F35461E0-34C2-4FA3-8726-0903B9106DD4}" srcOrd="0" destOrd="0" presId="urn:microsoft.com/office/officeart/2005/8/layout/process1"/>
    <dgm:cxn modelId="{8AFC1EA6-B33E-4AED-93D3-39343F90C628}" type="presOf" srcId="{25285FFF-3BB3-49ED-8CE1-2CC0FE65E6B5}" destId="{F3EA6325-EC7C-4E4B-8BF0-A346E2F05F8E}" srcOrd="0" destOrd="0" presId="urn:microsoft.com/office/officeart/2005/8/layout/process1"/>
    <dgm:cxn modelId="{2ADE6BED-65FD-4C2A-A16B-830BF93C7E7E}" srcId="{E66B9AE8-FCC4-441E-A73F-A90876D693E2}" destId="{6AA5CBC7-1655-41B2-ACD6-E9DCD0134D2A}" srcOrd="0" destOrd="0" parTransId="{BD64583E-D457-4605-BF65-9490E5D9B2DB}" sibTransId="{71EBEAA6-549A-4C1B-8D39-66F7FB9C088A}"/>
    <dgm:cxn modelId="{F47B7A01-FFD0-42E2-B366-DA21B4231F73}" srcId="{E66B9AE8-FCC4-441E-A73F-A90876D693E2}" destId="{25285FFF-3BB3-49ED-8CE1-2CC0FE65E6B5}" srcOrd="2" destOrd="0" parTransId="{7AE39070-10A2-4770-87DE-288E4023BE65}" sibTransId="{F33EAE3F-9CBA-4D6D-8118-A19F657E37BF}"/>
    <dgm:cxn modelId="{BF10BA86-7607-473D-A090-160F4CAD860F}" type="presOf" srcId="{71EBEAA6-549A-4C1B-8D39-66F7FB9C088A}" destId="{32FF939A-4CF0-4512-A5DA-A0E3ED7AE515}" srcOrd="0" destOrd="0" presId="urn:microsoft.com/office/officeart/2005/8/layout/process1"/>
    <dgm:cxn modelId="{A15C8687-8E66-41BB-914E-9485A14695AF}" type="presOf" srcId="{71EBEAA6-549A-4C1B-8D39-66F7FB9C088A}" destId="{24B3A818-C60D-4AA6-9232-1A2A42C28297}" srcOrd="1" destOrd="0" presId="urn:microsoft.com/office/officeart/2005/8/layout/process1"/>
    <dgm:cxn modelId="{4CCDB078-59DA-4C4D-B87E-8620F3FAB1A3}" type="presOf" srcId="{B3A28A78-CF0E-4737-9F7D-398607436C7B}" destId="{39DFB467-679E-4CEF-8563-530B03ED3C7E}" srcOrd="0" destOrd="0" presId="urn:microsoft.com/office/officeart/2005/8/layout/process1"/>
    <dgm:cxn modelId="{4A1AB81B-6342-4029-9DAA-A65458535E52}" srcId="{E66B9AE8-FCC4-441E-A73F-A90876D693E2}" destId="{004606EE-1C15-4375-BA02-757C7056792D}" srcOrd="1" destOrd="0" parTransId="{B1FF613E-7E91-4FC7-B77E-F5A17D9E5BC0}" sibTransId="{B3A28A78-CF0E-4737-9F7D-398607436C7B}"/>
    <dgm:cxn modelId="{67F51F9F-DE26-4654-8794-7997E474C532}" type="presOf" srcId="{004606EE-1C15-4375-BA02-757C7056792D}" destId="{27FADC35-4293-44AB-89B4-6A4AAD7CB250}" srcOrd="0" destOrd="0" presId="urn:microsoft.com/office/officeart/2005/8/layout/process1"/>
    <dgm:cxn modelId="{7275043C-9810-4BEB-962A-26C9BFDEA143}" type="presOf" srcId="{E66B9AE8-FCC4-441E-A73F-A90876D693E2}" destId="{1A8BED84-11CA-4F11-B741-8BD95DB327E5}" srcOrd="0" destOrd="0" presId="urn:microsoft.com/office/officeart/2005/8/layout/process1"/>
    <dgm:cxn modelId="{D3478807-12C6-4D04-A9A8-51EF3E66B9C8}" type="presParOf" srcId="{1A8BED84-11CA-4F11-B741-8BD95DB327E5}" destId="{F35461E0-34C2-4FA3-8726-0903B9106DD4}" srcOrd="0" destOrd="0" presId="urn:microsoft.com/office/officeart/2005/8/layout/process1"/>
    <dgm:cxn modelId="{98FE9786-B5A9-46C3-8CAA-B5236CCFC477}" type="presParOf" srcId="{1A8BED84-11CA-4F11-B741-8BD95DB327E5}" destId="{32FF939A-4CF0-4512-A5DA-A0E3ED7AE515}" srcOrd="1" destOrd="0" presId="urn:microsoft.com/office/officeart/2005/8/layout/process1"/>
    <dgm:cxn modelId="{698E69F8-B7BB-4201-AB4E-3FC521F98952}" type="presParOf" srcId="{32FF939A-4CF0-4512-A5DA-A0E3ED7AE515}" destId="{24B3A818-C60D-4AA6-9232-1A2A42C28297}" srcOrd="0" destOrd="0" presId="urn:microsoft.com/office/officeart/2005/8/layout/process1"/>
    <dgm:cxn modelId="{67A522B9-B919-458E-BDAB-EDCD41FD956B}" type="presParOf" srcId="{1A8BED84-11CA-4F11-B741-8BD95DB327E5}" destId="{27FADC35-4293-44AB-89B4-6A4AAD7CB250}" srcOrd="2" destOrd="0" presId="urn:microsoft.com/office/officeart/2005/8/layout/process1"/>
    <dgm:cxn modelId="{6892A851-CD45-4DF9-B8BA-1B18DE844063}" type="presParOf" srcId="{1A8BED84-11CA-4F11-B741-8BD95DB327E5}" destId="{39DFB467-679E-4CEF-8563-530B03ED3C7E}" srcOrd="3" destOrd="0" presId="urn:microsoft.com/office/officeart/2005/8/layout/process1"/>
    <dgm:cxn modelId="{647FFF69-E845-4829-AEC9-395BA091819A}" type="presParOf" srcId="{39DFB467-679E-4CEF-8563-530B03ED3C7E}" destId="{9CF64848-23F0-43F0-95C3-E2990D77462B}" srcOrd="0" destOrd="0" presId="urn:microsoft.com/office/officeart/2005/8/layout/process1"/>
    <dgm:cxn modelId="{A93B4353-BA15-4FC3-A669-EC2704C9DE9D}" type="presParOf" srcId="{1A8BED84-11CA-4F11-B741-8BD95DB327E5}" destId="{F3EA6325-EC7C-4E4B-8BF0-A346E2F05F8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C74E16-22E3-4B34-A7DB-0CDE040E48C6}">
      <dsp:nvSpPr>
        <dsp:cNvPr id="0" name=""/>
        <dsp:cNvSpPr/>
      </dsp:nvSpPr>
      <dsp:spPr>
        <a:xfrm rot="5400000">
          <a:off x="6332862" y="-2583206"/>
          <a:ext cx="1013698" cy="6437376"/>
        </a:xfrm>
        <a:prstGeom prst="round2Same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Загрузка </a:t>
          </a:r>
          <a:r>
            <a:rPr lang="ru-RU" sz="1600" kern="1200" dirty="0" err="1" smtClean="0"/>
            <a:t>датасета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0" u="none" kern="1200" dirty="0" smtClean="0"/>
            <a:t>Анализ и очистка (EDA &amp; </a:t>
          </a:r>
          <a:r>
            <a:rPr lang="ru-RU" sz="1600" b="0" i="0" u="none" kern="1200" dirty="0" err="1" smtClean="0"/>
            <a:t>Cleaning</a:t>
          </a:r>
          <a:endParaRPr lang="ru-RU" sz="1600" kern="1200" dirty="0"/>
        </a:p>
      </dsp:txBody>
      <dsp:txXfrm rot="-5400000">
        <a:off x="3621024" y="178117"/>
        <a:ext cx="6387891" cy="914728"/>
      </dsp:txXfrm>
    </dsp:sp>
    <dsp:sp modelId="{AAB2E0B8-9744-43A7-A19B-B60CB65F72F4}">
      <dsp:nvSpPr>
        <dsp:cNvPr id="0" name=""/>
        <dsp:cNvSpPr/>
      </dsp:nvSpPr>
      <dsp:spPr>
        <a:xfrm>
          <a:off x="0" y="1919"/>
          <a:ext cx="3621024" cy="1267122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1. Данные</a:t>
          </a:r>
          <a:endParaRPr lang="ru-RU" sz="3500" kern="1200" dirty="0"/>
        </a:p>
      </dsp:txBody>
      <dsp:txXfrm>
        <a:off x="61856" y="63775"/>
        <a:ext cx="3497312" cy="1143410"/>
      </dsp:txXfrm>
    </dsp:sp>
    <dsp:sp modelId="{C1B8F11D-19A1-418C-AD9C-B87995F815B4}">
      <dsp:nvSpPr>
        <dsp:cNvPr id="0" name=""/>
        <dsp:cNvSpPr/>
      </dsp:nvSpPr>
      <dsp:spPr>
        <a:xfrm rot="5400000">
          <a:off x="6332862" y="-1252728"/>
          <a:ext cx="1013698" cy="6437376"/>
        </a:xfrm>
        <a:prstGeom prst="round2Same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0" u="none" kern="1200" dirty="0" smtClean="0"/>
            <a:t>Логарифмирование целевой переменной (</a:t>
          </a:r>
          <a:r>
            <a:rPr lang="en-US" sz="1600" b="0" i="0" u="none" kern="1200" dirty="0" smtClean="0"/>
            <a:t>views)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0" u="none" kern="1200" dirty="0" smtClean="0"/>
            <a:t>Выбор признаков, масштабирование, разделение на выборки.</a:t>
          </a:r>
          <a:endParaRPr lang="ru-RU" sz="1600" kern="1200" dirty="0"/>
        </a:p>
      </dsp:txBody>
      <dsp:txXfrm rot="-5400000">
        <a:off x="3621024" y="1508595"/>
        <a:ext cx="6387891" cy="914728"/>
      </dsp:txXfrm>
    </dsp:sp>
    <dsp:sp modelId="{6372C59E-7DD4-49C5-A89E-37E2FEA2EE9E}">
      <dsp:nvSpPr>
        <dsp:cNvPr id="0" name=""/>
        <dsp:cNvSpPr/>
      </dsp:nvSpPr>
      <dsp:spPr>
        <a:xfrm>
          <a:off x="0" y="1332398"/>
          <a:ext cx="3621024" cy="1267122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344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2. Подготовка к </a:t>
          </a:r>
          <a:r>
            <a:rPr lang="en-US" sz="3500" kern="1200" dirty="0" smtClean="0"/>
            <a:t>ML</a:t>
          </a:r>
          <a:endParaRPr lang="ru-RU" sz="3500" kern="1200" dirty="0"/>
        </a:p>
      </dsp:txBody>
      <dsp:txXfrm>
        <a:off x="61856" y="1394254"/>
        <a:ext cx="3497312" cy="1143410"/>
      </dsp:txXfrm>
    </dsp:sp>
    <dsp:sp modelId="{D1144AA0-EEAD-47BF-A7C8-3AF9CF5529DC}">
      <dsp:nvSpPr>
        <dsp:cNvPr id="0" name=""/>
        <dsp:cNvSpPr/>
      </dsp:nvSpPr>
      <dsp:spPr>
        <a:xfrm rot="5400000">
          <a:off x="6332862" y="77750"/>
          <a:ext cx="1013698" cy="6437376"/>
        </a:xfrm>
        <a:prstGeom prst="round2Same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0" u="none" kern="1200" dirty="0" smtClean="0"/>
            <a:t>Обучение нейронной сети (</a:t>
          </a:r>
          <a:r>
            <a:rPr lang="ru-RU" sz="1600" b="0" i="0" u="none" kern="1200" dirty="0" err="1" smtClean="0"/>
            <a:t>Keras</a:t>
          </a:r>
          <a:r>
            <a:rPr lang="ru-RU" sz="1600" b="0" i="0" u="none" kern="1200" dirty="0" smtClean="0"/>
            <a:t>) и </a:t>
          </a:r>
          <a:r>
            <a:rPr lang="ru-RU" sz="1600" b="0" i="0" u="none" kern="1200" dirty="0" err="1" smtClean="0"/>
            <a:t>Random</a:t>
          </a:r>
          <a:r>
            <a:rPr lang="ru-RU" sz="1600" b="0" i="0" u="none" kern="1200" dirty="0" smtClean="0"/>
            <a:t> </a:t>
          </a:r>
          <a:r>
            <a:rPr lang="ru-RU" sz="1600" b="0" i="0" u="none" kern="1200" dirty="0" err="1" smtClean="0"/>
            <a:t>Forest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0" u="none" kern="1200" dirty="0" smtClean="0"/>
            <a:t>Оценка качества (R², MAE)</a:t>
          </a:r>
          <a:endParaRPr lang="ru-RU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0" u="none" kern="1200" dirty="0" smtClean="0"/>
            <a:t>Анализ важности признаков, визуализация предсказаний</a:t>
          </a:r>
          <a:endParaRPr lang="ru-RU" sz="1600" kern="1200" dirty="0"/>
        </a:p>
      </dsp:txBody>
      <dsp:txXfrm rot="-5400000">
        <a:off x="3621024" y="2839074"/>
        <a:ext cx="6387891" cy="914728"/>
      </dsp:txXfrm>
    </dsp:sp>
    <dsp:sp modelId="{9C57E151-185D-4603-A5DF-531ADA6696E5}">
      <dsp:nvSpPr>
        <dsp:cNvPr id="0" name=""/>
        <dsp:cNvSpPr/>
      </dsp:nvSpPr>
      <dsp:spPr>
        <a:xfrm>
          <a:off x="0" y="2662877"/>
          <a:ext cx="3621024" cy="1267122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344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3. Создание модели</a:t>
          </a:r>
          <a:endParaRPr lang="ru-RU" sz="3500" kern="1200" dirty="0"/>
        </a:p>
      </dsp:txBody>
      <dsp:txXfrm>
        <a:off x="61856" y="2724733"/>
        <a:ext cx="3497312" cy="11434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461E0-34C2-4FA3-8726-0903B9106DD4}">
      <dsp:nvSpPr>
        <dsp:cNvPr id="0" name=""/>
        <dsp:cNvSpPr/>
      </dsp:nvSpPr>
      <dsp:spPr>
        <a:xfrm>
          <a:off x="8698" y="363072"/>
          <a:ext cx="2599757" cy="1559854"/>
        </a:xfrm>
        <a:prstGeom prst="roundRect">
          <a:avLst>
            <a:gd name="adj" fmla="val 10000"/>
          </a:avLst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Вход (4 нейрона):  </a:t>
          </a:r>
          <a:r>
            <a:rPr lang="en-US" sz="1800" b="0" i="0" u="none" kern="1200" dirty="0" smtClean="0"/>
            <a:t>likes, dislikes, comments, category</a:t>
          </a:r>
          <a:endParaRPr lang="ru-RU" sz="1800" kern="1200" dirty="0"/>
        </a:p>
      </dsp:txBody>
      <dsp:txXfrm>
        <a:off x="54385" y="408759"/>
        <a:ext cx="2508383" cy="1468480"/>
      </dsp:txXfrm>
    </dsp:sp>
    <dsp:sp modelId="{32FF939A-4CF0-4512-A5DA-A0E3ED7AE515}">
      <dsp:nvSpPr>
        <dsp:cNvPr id="0" name=""/>
        <dsp:cNvSpPr/>
      </dsp:nvSpPr>
      <dsp:spPr>
        <a:xfrm>
          <a:off x="2868431" y="820630"/>
          <a:ext cx="551148" cy="6447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400" kern="1200"/>
        </a:p>
      </dsp:txBody>
      <dsp:txXfrm>
        <a:off x="2868431" y="949578"/>
        <a:ext cx="385804" cy="386843"/>
      </dsp:txXfrm>
    </dsp:sp>
    <dsp:sp modelId="{27FADC35-4293-44AB-89B4-6A4AAD7CB250}">
      <dsp:nvSpPr>
        <dsp:cNvPr id="0" name=""/>
        <dsp:cNvSpPr/>
      </dsp:nvSpPr>
      <dsp:spPr>
        <a:xfrm>
          <a:off x="3648358" y="363072"/>
          <a:ext cx="2599757" cy="1559854"/>
        </a:xfrm>
        <a:prstGeom prst="roundRect">
          <a:avLst>
            <a:gd name="adj" fmla="val 10000"/>
          </a:avLst>
        </a:prstGeom>
        <a:solidFill>
          <a:schemeClr val="accent5">
            <a:shade val="50000"/>
            <a:hueOff val="0"/>
            <a:satOff val="0"/>
            <a:lumOff val="319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u="none" kern="1200" dirty="0" smtClean="0"/>
            <a:t>Скрытые слои: </a:t>
          </a:r>
          <a:r>
            <a:rPr lang="en-US" sz="1800" b="0" i="0" u="none" kern="1200" dirty="0" smtClean="0"/>
            <a:t>Dense(128) → Dropout → Dense(64) → Dense(32).</a:t>
          </a:r>
          <a:endParaRPr lang="ru-RU" sz="1800" kern="1200" dirty="0"/>
        </a:p>
      </dsp:txBody>
      <dsp:txXfrm>
        <a:off x="3694045" y="408759"/>
        <a:ext cx="2508383" cy="1468480"/>
      </dsp:txXfrm>
    </dsp:sp>
    <dsp:sp modelId="{39DFB467-679E-4CEF-8563-530B03ED3C7E}">
      <dsp:nvSpPr>
        <dsp:cNvPr id="0" name=""/>
        <dsp:cNvSpPr/>
      </dsp:nvSpPr>
      <dsp:spPr>
        <a:xfrm>
          <a:off x="6508092" y="820630"/>
          <a:ext cx="551148" cy="6447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0"/>
            <a:satOff val="0"/>
            <a:lumOff val="4176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400" kern="1200"/>
        </a:p>
      </dsp:txBody>
      <dsp:txXfrm>
        <a:off x="6508092" y="949578"/>
        <a:ext cx="385804" cy="386843"/>
      </dsp:txXfrm>
    </dsp:sp>
    <dsp:sp modelId="{F3EA6325-EC7C-4E4B-8BF0-A346E2F05F8E}">
      <dsp:nvSpPr>
        <dsp:cNvPr id="0" name=""/>
        <dsp:cNvSpPr/>
      </dsp:nvSpPr>
      <dsp:spPr>
        <a:xfrm>
          <a:off x="7288019" y="363072"/>
          <a:ext cx="2599757" cy="1559854"/>
        </a:xfrm>
        <a:prstGeom prst="roundRect">
          <a:avLst>
            <a:gd name="adj" fmla="val 10000"/>
          </a:avLst>
        </a:prstGeom>
        <a:solidFill>
          <a:schemeClr val="accent5">
            <a:shade val="50000"/>
            <a:hueOff val="0"/>
            <a:satOff val="0"/>
            <a:lumOff val="319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u="none" kern="1200" dirty="0" smtClean="0"/>
            <a:t>Выход (1 нейрон): Предсказание </a:t>
          </a:r>
          <a:r>
            <a:rPr lang="ru-RU" sz="1800" b="0" i="0" u="none" kern="1200" dirty="0" err="1" smtClean="0"/>
            <a:t>log</a:t>
          </a:r>
          <a:r>
            <a:rPr lang="ru-RU" sz="1800" b="0" i="0" u="none" kern="1200" dirty="0" smtClean="0"/>
            <a:t>(</a:t>
          </a:r>
          <a:r>
            <a:rPr lang="ru-RU" sz="1800" b="0" i="0" u="none" kern="1200" dirty="0" err="1" smtClean="0"/>
            <a:t>views</a:t>
          </a:r>
          <a:r>
            <a:rPr lang="ru-RU" sz="1800" b="0" i="0" u="none" kern="1200" dirty="0" smtClean="0"/>
            <a:t>).</a:t>
          </a:r>
          <a:endParaRPr lang="ru-RU" sz="1800" kern="1200" dirty="0"/>
        </a:p>
      </dsp:txBody>
      <dsp:txXfrm>
        <a:off x="7333706" y="408759"/>
        <a:ext cx="2508383" cy="1468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18FAB-C28B-40AF-8B8C-149BC2B639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D7F35-D933-4DA5-A8C0-7799A41593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08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591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64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9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46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84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15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460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67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4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70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84A351E-6536-41EA-824E-D0858DB9CDBA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092B538-10B5-46FB-AD2C-19590797B48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705957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comments" Target="../comments/comment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87418" y="2351872"/>
            <a:ext cx="8361229" cy="2098226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r>
              <a:rPr lang="ru-RU" dirty="0" smtClean="0"/>
              <a:t>Популярность видеороликов на </a:t>
            </a:r>
            <a:r>
              <a:rPr lang="en-US" dirty="0" err="1" smtClean="0"/>
              <a:t>Youtube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26960" y="4579408"/>
            <a:ext cx="6831673" cy="1086237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Проект выполнили:</a:t>
            </a:r>
          </a:p>
          <a:p>
            <a:pPr algn="l"/>
            <a:r>
              <a:rPr lang="ru-RU" dirty="0" smtClean="0"/>
              <a:t>Овсянникова Софья</a:t>
            </a:r>
          </a:p>
          <a:p>
            <a:pPr algn="l"/>
            <a:r>
              <a:rPr lang="ru-RU" dirty="0" smtClean="0"/>
              <a:t>Анчугова Дарья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88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4909" y="2084647"/>
            <a:ext cx="5472545" cy="4593244"/>
          </a:xfrm>
        </p:spPr>
        <p:txBody>
          <a:bodyPr>
            <a:normAutofit/>
          </a:bodyPr>
          <a:lstStyle/>
          <a:p>
            <a:pPr algn="just" fontAlgn="base"/>
            <a:r>
              <a:rPr lang="ru-RU" dirty="0" smtClean="0"/>
              <a:t>Мир </a:t>
            </a:r>
            <a:r>
              <a:rPr lang="ru-RU" dirty="0"/>
              <a:t>переполнен контентом, </a:t>
            </a:r>
            <a:r>
              <a:rPr lang="ru-RU" dirty="0" smtClean="0"/>
              <a:t>поэтому сложно </a:t>
            </a:r>
            <a:r>
              <a:rPr lang="ru-RU" dirty="0"/>
              <a:t>предугадать, какое видео станет популярным, что усложняет работу </a:t>
            </a:r>
            <a:r>
              <a:rPr lang="ru-RU" dirty="0" err="1"/>
              <a:t>блогерам</a:t>
            </a:r>
            <a:r>
              <a:rPr lang="ru-RU" dirty="0"/>
              <a:t> и </a:t>
            </a:r>
            <a:r>
              <a:rPr lang="ru-RU" dirty="0" smtClean="0"/>
              <a:t>контент-</a:t>
            </a:r>
            <a:r>
              <a:rPr lang="ru-RU" dirty="0" err="1" smtClean="0"/>
              <a:t>мейкерам</a:t>
            </a:r>
            <a:r>
              <a:rPr lang="ru-RU" dirty="0" smtClean="0"/>
              <a:t>, медиа-компаниям, </a:t>
            </a:r>
            <a:r>
              <a:rPr lang="ru-RU" dirty="0" err="1" smtClean="0"/>
              <a:t>продюссерским</a:t>
            </a:r>
            <a:r>
              <a:rPr lang="ru-RU" dirty="0" smtClean="0"/>
              <a:t> агентствам.</a:t>
            </a:r>
            <a:endParaRPr lang="ru-RU" dirty="0"/>
          </a:p>
          <a:p>
            <a:pPr algn="just" fontAlgn="base"/>
            <a:r>
              <a:rPr lang="ru-RU" dirty="0"/>
              <a:t>С</a:t>
            </a:r>
            <a:r>
              <a:rPr lang="ru-RU" dirty="0" smtClean="0"/>
              <a:t>оздание </a:t>
            </a:r>
            <a:r>
              <a:rPr lang="ru-RU" dirty="0"/>
              <a:t>прототипа модели, которая будет предсказывать популярность видео на </a:t>
            </a:r>
            <a:r>
              <a:rPr lang="ru-RU" dirty="0" err="1"/>
              <a:t>youtube</a:t>
            </a:r>
            <a:r>
              <a:rPr lang="ru-RU" dirty="0"/>
              <a:t>, определение важнейших параметров, влияющих на </a:t>
            </a:r>
            <a:r>
              <a:rPr lang="ru-RU" dirty="0" smtClean="0"/>
              <a:t>популярность.</a:t>
            </a:r>
            <a:endParaRPr lang="ru-RU" dirty="0"/>
          </a:p>
          <a:p>
            <a:pPr algn="just" fontAlgn="base"/>
            <a:r>
              <a:rPr lang="ru-RU" dirty="0" smtClean="0"/>
              <a:t>Мы получим экономию </a:t>
            </a:r>
            <a:r>
              <a:rPr lang="ru-RU" dirty="0"/>
              <a:t>ресурсов и повышение эффективности </a:t>
            </a:r>
            <a:r>
              <a:rPr lang="ru-RU" dirty="0" smtClean="0"/>
              <a:t>контент-стратегий.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436" y="1627476"/>
            <a:ext cx="3325040" cy="187033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909" y="3622530"/>
            <a:ext cx="4528642" cy="254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5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Цель и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86891" y="2014194"/>
            <a:ext cx="7218218" cy="3931920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2000" b="1" dirty="0" smtClean="0"/>
              <a:t>Цель:</a:t>
            </a:r>
            <a:r>
              <a:rPr lang="ru-RU" dirty="0" smtClean="0"/>
              <a:t> </a:t>
            </a:r>
            <a:r>
              <a:rPr lang="ru-RU" dirty="0"/>
              <a:t>Разработать модель машинного обучения (MLM) для прогнозирования количества просмотров видео на </a:t>
            </a:r>
            <a:r>
              <a:rPr lang="ru-RU" dirty="0" err="1"/>
              <a:t>YouTube</a:t>
            </a:r>
            <a:r>
              <a:rPr lang="ru-RU" dirty="0"/>
              <a:t>.</a:t>
            </a:r>
          </a:p>
          <a:p>
            <a:pPr algn="just"/>
            <a:r>
              <a:rPr lang="ru-RU" sz="2000" b="1" dirty="0" smtClean="0"/>
              <a:t>Задачи:</a:t>
            </a:r>
          </a:p>
          <a:p>
            <a:pPr marL="0" indent="0" algn="just">
              <a:buNone/>
            </a:pPr>
            <a:r>
              <a:rPr lang="ru-RU" dirty="0" smtClean="0"/>
              <a:t>1. </a:t>
            </a:r>
            <a:r>
              <a:rPr lang="ru-RU" dirty="0"/>
              <a:t>Собрать и подготовить актуальный набор данных (</a:t>
            </a:r>
            <a:r>
              <a:rPr lang="ru-RU" dirty="0" err="1"/>
              <a:t>Trending</a:t>
            </a:r>
            <a:r>
              <a:rPr lang="ru-RU" dirty="0"/>
              <a:t> </a:t>
            </a:r>
            <a:r>
              <a:rPr lang="ru-RU" dirty="0" err="1"/>
              <a:t>Videos</a:t>
            </a:r>
            <a:r>
              <a:rPr lang="ru-RU" dirty="0" smtClean="0"/>
              <a:t>)</a:t>
            </a:r>
          </a:p>
          <a:p>
            <a:pPr marL="0" indent="0" algn="just">
              <a:buNone/>
            </a:pPr>
            <a:r>
              <a:rPr lang="ru-RU" dirty="0" smtClean="0"/>
              <a:t>2. </a:t>
            </a:r>
            <a:r>
              <a:rPr lang="ru-RU" dirty="0"/>
              <a:t>Провести разведочный анализ данных (</a:t>
            </a:r>
            <a:r>
              <a:rPr lang="ru-RU" dirty="0" smtClean="0"/>
              <a:t>EDA).</a:t>
            </a:r>
          </a:p>
          <a:p>
            <a:pPr marL="0" indent="0" algn="just">
              <a:buNone/>
            </a:pPr>
            <a:r>
              <a:rPr lang="ru-RU" dirty="0" smtClean="0"/>
              <a:t>3. </a:t>
            </a:r>
            <a:r>
              <a:rPr lang="ru-RU" dirty="0"/>
              <a:t>Очистить данные и создать признаки для обучения </a:t>
            </a:r>
            <a:r>
              <a:rPr lang="ru-RU" dirty="0" smtClean="0"/>
              <a:t>модели.</a:t>
            </a:r>
          </a:p>
          <a:p>
            <a:pPr marL="0" indent="0" algn="just">
              <a:buNone/>
            </a:pPr>
            <a:r>
              <a:rPr lang="ru-RU" dirty="0" smtClean="0"/>
              <a:t>4. </a:t>
            </a:r>
            <a:r>
              <a:rPr lang="ru-RU" dirty="0"/>
              <a:t>Обучить и оценить несколько моделей регрессии (нейронная сеть, 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r>
              <a:rPr lang="ru-RU" dirty="0" smtClean="0"/>
              <a:t>).</a:t>
            </a:r>
          </a:p>
          <a:p>
            <a:pPr marL="0" indent="0" algn="just">
              <a:buNone/>
            </a:pPr>
            <a:r>
              <a:rPr lang="ru-RU" dirty="0" smtClean="0"/>
              <a:t>5. </a:t>
            </a:r>
            <a:r>
              <a:rPr lang="ru-RU" dirty="0"/>
              <a:t>Проанализировать важность </a:t>
            </a:r>
            <a:r>
              <a:rPr lang="ru-RU" dirty="0" smtClean="0"/>
              <a:t>признаков.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5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Этапы работы над проектом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3954414"/>
              </p:ext>
            </p:extLst>
          </p:nvPr>
        </p:nvGraphicFramePr>
        <p:xfrm>
          <a:off x="1066800" y="2103120"/>
          <a:ext cx="10058400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157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Сравнение аналогов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67254" y="2014194"/>
            <a:ext cx="8657492" cy="3931920"/>
          </a:xfrm>
        </p:spPr>
        <p:txBody>
          <a:bodyPr>
            <a:normAutofit fontScale="92500"/>
          </a:bodyPr>
          <a:lstStyle/>
          <a:p>
            <a:pPr algn="just"/>
            <a:r>
              <a:rPr lang="ru-RU" b="1" dirty="0" smtClean="0"/>
              <a:t>Аналоги</a:t>
            </a:r>
            <a:r>
              <a:rPr lang="ru-RU" dirty="0" smtClean="0"/>
              <a:t>(существующие сервисы):</a:t>
            </a:r>
          </a:p>
          <a:p>
            <a:pPr marL="0" indent="0" algn="just" fontAlgn="base">
              <a:buNone/>
            </a:pPr>
            <a:r>
              <a:rPr lang="ru-RU" b="1" dirty="0" smtClean="0"/>
              <a:t>1</a:t>
            </a:r>
            <a:r>
              <a:rPr lang="ru-RU" dirty="0" smtClean="0"/>
              <a:t>. </a:t>
            </a:r>
            <a:r>
              <a:rPr lang="ru-RU" dirty="0" err="1" smtClean="0"/>
              <a:t>Tubular</a:t>
            </a:r>
            <a:r>
              <a:rPr lang="ru-RU" dirty="0" smtClean="0"/>
              <a:t> </a:t>
            </a:r>
            <a:r>
              <a:rPr lang="ru-RU" dirty="0" err="1" smtClean="0"/>
              <a:t>Labs</a:t>
            </a:r>
            <a:r>
              <a:rPr lang="en-US" dirty="0" smtClean="0"/>
              <a:t> (</a:t>
            </a:r>
            <a:r>
              <a:rPr lang="ru-RU" dirty="0" smtClean="0"/>
              <a:t>платформа для аналитики и исследования </a:t>
            </a:r>
            <a:r>
              <a:rPr lang="ru-RU" dirty="0" err="1" smtClean="0"/>
              <a:t>видеоконтента</a:t>
            </a:r>
            <a:r>
              <a:rPr lang="en-US" dirty="0" smtClean="0"/>
              <a:t>)</a:t>
            </a:r>
            <a:r>
              <a:rPr lang="ru-RU" dirty="0" smtClean="0"/>
              <a:t>, </a:t>
            </a:r>
            <a:r>
              <a:rPr lang="ru-RU" dirty="0" err="1"/>
              <a:t>Social</a:t>
            </a:r>
            <a:r>
              <a:rPr lang="ru-RU" dirty="0"/>
              <a:t> </a:t>
            </a:r>
            <a:r>
              <a:rPr lang="ru-RU" dirty="0" err="1" smtClean="0"/>
              <a:t>Blade</a:t>
            </a:r>
            <a:r>
              <a:rPr lang="ru-RU" dirty="0" smtClean="0"/>
              <a:t>(</a:t>
            </a:r>
            <a:r>
              <a:rPr lang="ru-RU" dirty="0"/>
              <a:t>веб-сайт, предоставляющий аналитику и статистику для социальных сетей</a:t>
            </a:r>
            <a:r>
              <a:rPr lang="ru-RU" dirty="0" smtClean="0"/>
              <a:t>) </a:t>
            </a:r>
            <a:r>
              <a:rPr lang="ru-RU" dirty="0"/>
              <a:t>— комплексные платформы, </a:t>
            </a:r>
            <a:r>
              <a:rPr lang="ru-RU" b="1" dirty="0"/>
              <a:t>часто </a:t>
            </a:r>
            <a:r>
              <a:rPr lang="ru-RU" b="1" dirty="0" smtClean="0"/>
              <a:t>платные</a:t>
            </a:r>
            <a:r>
              <a:rPr lang="ru-RU" dirty="0" smtClean="0"/>
              <a:t>.</a:t>
            </a:r>
          </a:p>
          <a:p>
            <a:pPr marL="0" indent="0" algn="just" fontAlgn="base">
              <a:buNone/>
            </a:pPr>
            <a:r>
              <a:rPr lang="ru-RU" b="1" dirty="0" smtClean="0"/>
              <a:t>2</a:t>
            </a:r>
            <a:r>
              <a:rPr lang="ru-RU" dirty="0" smtClean="0"/>
              <a:t>. Советы </a:t>
            </a:r>
            <a:r>
              <a:rPr lang="ru-RU" dirty="0" err="1"/>
              <a:t>блогеров</a:t>
            </a:r>
            <a:r>
              <a:rPr lang="ru-RU" dirty="0"/>
              <a:t> — не имеют количественного обоснования</a:t>
            </a:r>
            <a:r>
              <a:rPr lang="ru-RU" dirty="0" smtClean="0"/>
              <a:t>.</a:t>
            </a:r>
          </a:p>
          <a:p>
            <a:pPr algn="just" fontAlgn="base"/>
            <a:endParaRPr lang="ru-RU" dirty="0" smtClean="0"/>
          </a:p>
          <a:p>
            <a:pPr algn="just" fontAlgn="base"/>
            <a:r>
              <a:rPr lang="ru-RU" b="1" dirty="0" smtClean="0"/>
              <a:t>Преимущества</a:t>
            </a:r>
            <a:r>
              <a:rPr lang="ru-RU" dirty="0" smtClean="0"/>
              <a:t> нашего решения перед существующими аналогами:</a:t>
            </a:r>
          </a:p>
          <a:p>
            <a:pPr marL="0" indent="0" algn="just" fontAlgn="base">
              <a:buNone/>
            </a:pPr>
            <a:r>
              <a:rPr lang="ru-RU" b="1" dirty="0" smtClean="0"/>
              <a:t>1.</a:t>
            </a:r>
            <a:r>
              <a:rPr lang="ru-RU" dirty="0" smtClean="0"/>
              <a:t> Бесплатность и открытость для любого пользователя, получаем </a:t>
            </a:r>
            <a:r>
              <a:rPr lang="ru-RU" b="1" dirty="0" smtClean="0"/>
              <a:t>конкретный и наглядный ответ</a:t>
            </a:r>
            <a:r>
              <a:rPr lang="ru-RU" dirty="0" smtClean="0"/>
              <a:t> на вопрос о взаимосвязи различных метрик и популярности видео на </a:t>
            </a:r>
            <a:r>
              <a:rPr lang="ru-RU" dirty="0" err="1" smtClean="0"/>
              <a:t>ютуб</a:t>
            </a:r>
            <a:r>
              <a:rPr lang="ru-RU" dirty="0" smtClean="0"/>
              <a:t>.</a:t>
            </a:r>
          </a:p>
          <a:p>
            <a:pPr marL="0" indent="0" algn="just" fontAlgn="base">
              <a:buNone/>
            </a:pPr>
            <a:r>
              <a:rPr lang="ru-RU" b="1" dirty="0" smtClean="0"/>
              <a:t>2.</a:t>
            </a:r>
            <a:r>
              <a:rPr lang="ru-RU" dirty="0" smtClean="0"/>
              <a:t> Модель </a:t>
            </a:r>
            <a:r>
              <a:rPr lang="ru-RU" b="1" dirty="0" smtClean="0"/>
              <a:t>можно </a:t>
            </a:r>
            <a:r>
              <a:rPr lang="ru-RU" b="1" dirty="0" err="1" smtClean="0"/>
              <a:t>дообучать</a:t>
            </a:r>
            <a:r>
              <a:rPr lang="ru-RU" b="1" dirty="0" smtClean="0"/>
              <a:t> </a:t>
            </a:r>
            <a:r>
              <a:rPr lang="ru-RU" dirty="0" smtClean="0"/>
              <a:t>на своих данных, прогноз просмотров производится на основе </a:t>
            </a:r>
            <a:r>
              <a:rPr lang="ru-RU" i="1" u="sng" dirty="0" smtClean="0"/>
              <a:t>небольшого количества ключевых метрик</a:t>
            </a:r>
            <a:r>
              <a:rPr lang="ru-RU" dirty="0" smtClean="0"/>
              <a:t>.</a:t>
            </a:r>
            <a:endParaRPr lang="ru-RU" dirty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38698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7584" y="2252571"/>
            <a:ext cx="9070848" cy="2587752"/>
          </a:xfrm>
        </p:spPr>
        <p:txBody>
          <a:bodyPr/>
          <a:lstStyle/>
          <a:p>
            <a:r>
              <a:rPr lang="ru-RU" dirty="0" smtClean="0"/>
              <a:t>Обзор проекта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329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(1) Данные и первичный анализ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Источник данных: </a:t>
            </a:r>
            <a:r>
              <a:rPr lang="ru-RU" dirty="0" err="1"/>
              <a:t>Kaggle</a:t>
            </a:r>
            <a:r>
              <a:rPr lang="ru-RU" dirty="0"/>
              <a:t> (</a:t>
            </a:r>
            <a:r>
              <a:rPr lang="ru-RU" dirty="0" err="1"/>
              <a:t>топовые</a:t>
            </a:r>
            <a:r>
              <a:rPr lang="ru-RU" dirty="0"/>
              <a:t> видео из 10+ стран</a:t>
            </a:r>
            <a:r>
              <a:rPr lang="ru-RU" dirty="0" smtClean="0"/>
              <a:t>)</a:t>
            </a:r>
          </a:p>
          <a:p>
            <a:r>
              <a:rPr lang="ru-RU" dirty="0"/>
              <a:t>Ключевые признаки: </a:t>
            </a:r>
            <a:r>
              <a:rPr lang="en-US" dirty="0" err="1"/>
              <a:t>category_id</a:t>
            </a:r>
            <a:r>
              <a:rPr lang="en-US" dirty="0"/>
              <a:t>, views, likes, dislikes, </a:t>
            </a:r>
            <a:r>
              <a:rPr lang="en-US" dirty="0" err="1"/>
              <a:t>comment_count</a:t>
            </a:r>
            <a:r>
              <a:rPr lang="en-US" dirty="0" smtClean="0"/>
              <a:t>.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28" y="2959262"/>
            <a:ext cx="5426064" cy="199098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32" y="2959262"/>
            <a:ext cx="5423240" cy="29002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7410" y="5248980"/>
            <a:ext cx="4987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Данные требуют логарифмирования для работы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349542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(2) </a:t>
            </a:r>
            <a:r>
              <a:rPr lang="ru-RU" dirty="0"/>
              <a:t>Ключевые инсайты </a:t>
            </a:r>
            <a:r>
              <a:rPr lang="en-US" dirty="0"/>
              <a:t>EDA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225" y="2151063"/>
            <a:ext cx="5033775" cy="39322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18036" y="2447636"/>
            <a:ext cx="44129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i="1" u="sng" dirty="0" err="1"/>
              <a:t>Boxplot</a:t>
            </a:r>
            <a:r>
              <a:rPr lang="ru-RU" i="1" dirty="0"/>
              <a:t> </a:t>
            </a:r>
            <a:r>
              <a:rPr lang="ru-RU" i="1" u="sng" dirty="0"/>
              <a:t>по</a:t>
            </a:r>
            <a:r>
              <a:rPr lang="ru-RU" i="1" dirty="0"/>
              <a:t> </a:t>
            </a:r>
            <a:r>
              <a:rPr lang="ru-RU" i="1" u="sng" dirty="0"/>
              <a:t>категориям</a:t>
            </a:r>
            <a:r>
              <a:rPr lang="ru-RU" i="1" dirty="0"/>
              <a:t>:</a:t>
            </a:r>
            <a:r>
              <a:rPr lang="ru-RU" dirty="0"/>
              <a:t> Показывает, что </a:t>
            </a:r>
            <a:r>
              <a:rPr lang="ru-RU" dirty="0" err="1" smtClean="0"/>
              <a:t>Music</a:t>
            </a:r>
            <a:r>
              <a:rPr lang="en-US" dirty="0" smtClean="0"/>
              <a:t> (10)</a:t>
            </a:r>
            <a:r>
              <a:rPr lang="ru-RU" dirty="0" smtClean="0"/>
              <a:t>, </a:t>
            </a:r>
            <a:r>
              <a:rPr lang="ru-RU" dirty="0" err="1" smtClean="0"/>
              <a:t>Entertainment</a:t>
            </a:r>
            <a:r>
              <a:rPr lang="en-US" dirty="0" smtClean="0"/>
              <a:t> (24)</a:t>
            </a:r>
            <a:r>
              <a:rPr lang="ru-RU" dirty="0" smtClean="0"/>
              <a:t>, </a:t>
            </a:r>
            <a:r>
              <a:rPr lang="en-US" dirty="0" smtClean="0"/>
              <a:t>Comedy (23)</a:t>
            </a:r>
            <a:r>
              <a:rPr lang="ru-RU" dirty="0" smtClean="0"/>
              <a:t> </a:t>
            </a:r>
            <a:r>
              <a:rPr lang="ru-RU" dirty="0"/>
              <a:t>имеют больше просмотров и выбросов</a:t>
            </a:r>
            <a:r>
              <a:rPr lang="ru-RU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i="1" u="sng" dirty="0"/>
              <a:t>Тепловая карта корреляций</a:t>
            </a:r>
            <a:r>
              <a:rPr lang="ru-RU" i="1" dirty="0"/>
              <a:t>:</a:t>
            </a:r>
            <a:r>
              <a:rPr lang="ru-RU" dirty="0"/>
              <a:t> </a:t>
            </a:r>
            <a:r>
              <a:rPr lang="ru-RU" dirty="0" err="1"/>
              <a:t>likes</a:t>
            </a:r>
            <a:r>
              <a:rPr lang="ru-RU" dirty="0"/>
              <a:t> и </a:t>
            </a:r>
            <a:r>
              <a:rPr lang="ru-RU" dirty="0" err="1"/>
              <a:t>comment_count</a:t>
            </a:r>
            <a:r>
              <a:rPr lang="ru-RU" dirty="0"/>
              <a:t> сильно коррелируют с </a:t>
            </a:r>
            <a:r>
              <a:rPr lang="ru-RU" dirty="0" err="1" smtClean="0"/>
              <a:t>views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963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(2) Ключевые </a:t>
            </a:r>
            <a:r>
              <a:rPr lang="ru-RU" dirty="0" err="1"/>
              <a:t>инсайты</a:t>
            </a:r>
            <a:r>
              <a:rPr lang="ru-RU" dirty="0"/>
              <a:t> </a:t>
            </a:r>
            <a:r>
              <a:rPr lang="en-US" dirty="0"/>
              <a:t>EDA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4779" y="2103438"/>
            <a:ext cx="4493132" cy="39322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800" y="2776894"/>
            <a:ext cx="44386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Лайки — главный индикатор просмотров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Комментарии тоже важны, но немного меньше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 err="1"/>
              <a:t>Дизлайки</a:t>
            </a:r>
            <a:r>
              <a:rPr lang="ru-RU" b="1" dirty="0"/>
              <a:t> — самый слабый индикатор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Лайки и комментарии </a:t>
            </a:r>
            <a:r>
              <a:rPr lang="ru-RU" b="1" dirty="0" smtClean="0"/>
              <a:t>идут вместе</a:t>
            </a: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639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(3) Модель (архитектура)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78155"/>
          </a:xfrm>
        </p:spPr>
        <p:txBody>
          <a:bodyPr/>
          <a:lstStyle/>
          <a:p>
            <a:r>
              <a:rPr lang="ru-RU" dirty="0"/>
              <a:t>Выбранный алгоритм: Нейронная сеть (</a:t>
            </a:r>
            <a:r>
              <a:rPr lang="ru-RU" dirty="0" err="1"/>
              <a:t>Keras</a:t>
            </a:r>
            <a:r>
              <a:rPr lang="ru-RU" dirty="0"/>
              <a:t>/</a:t>
            </a:r>
            <a:r>
              <a:rPr lang="ru-RU" dirty="0" err="1"/>
              <a:t>TensorFlow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145948065"/>
              </p:ext>
            </p:extLst>
          </p:nvPr>
        </p:nvGraphicFramePr>
        <p:xfrm>
          <a:off x="1362074" y="3086100"/>
          <a:ext cx="9896475" cy="228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683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(4) Результаты моделирования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151063"/>
            <a:ext cx="5927139" cy="3726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86649" y="2151063"/>
            <a:ext cx="39528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Ключевая метрика: R² (коэффициент детерминации) = </a:t>
            </a:r>
            <a:r>
              <a:rPr lang="ru-RU" dirty="0" smtClean="0"/>
              <a:t>0.75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Модель объясняет </a:t>
            </a:r>
            <a:r>
              <a:rPr lang="ru-RU" dirty="0" smtClean="0"/>
              <a:t>75% </a:t>
            </a:r>
            <a:r>
              <a:rPr lang="ru-RU" dirty="0"/>
              <a:t>вариативности просмотров. Цель достигнута (R² ≥ 0.6</a:t>
            </a:r>
            <a:r>
              <a:rPr lang="ru-RU" dirty="0" smtClean="0"/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Это очень хороший результат для задачи предсказания популярности контента, учитывая, что мы использовали всего 4 </a:t>
            </a:r>
            <a:r>
              <a:rPr lang="ru-RU" dirty="0" smtClean="0"/>
              <a:t>признака, значит, они действительно важны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271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(4) Результаты моделирования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1277" y="2014194"/>
            <a:ext cx="6663923" cy="39322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800" y="2394331"/>
            <a:ext cx="25498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Важность признаков (из </a:t>
            </a:r>
            <a:r>
              <a:rPr lang="en-US" dirty="0"/>
              <a:t>Random Forest</a:t>
            </a:r>
            <a:r>
              <a:rPr lang="en-US" dirty="0" smtClean="0"/>
              <a:t>):</a:t>
            </a:r>
            <a:endParaRPr lang="ru-RU" dirty="0" smtClean="0"/>
          </a:p>
          <a:p>
            <a:pPr marL="342900" indent="-342900" algn="just">
              <a:buFont typeface="+mj-lt"/>
              <a:buAutoNum type="arabicPeriod"/>
            </a:pPr>
            <a:r>
              <a:rPr lang="en-US" b="1" dirty="0" smtClean="0"/>
              <a:t>Likes</a:t>
            </a:r>
            <a:r>
              <a:rPr lang="en-US" dirty="0"/>
              <a:t> (</a:t>
            </a:r>
            <a:r>
              <a:rPr lang="ru-RU" dirty="0"/>
              <a:t>Наиболее </a:t>
            </a:r>
            <a:r>
              <a:rPr lang="ru-RU" dirty="0" smtClean="0"/>
              <a:t>важный)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 smtClean="0"/>
              <a:t>Comment Count</a:t>
            </a:r>
            <a:endParaRPr lang="ru-RU" b="1" dirty="0" smtClean="0"/>
          </a:p>
          <a:p>
            <a:pPr marL="342900" indent="-342900" algn="just">
              <a:buFont typeface="+mj-lt"/>
              <a:buAutoNum type="arabicPeriod"/>
            </a:pPr>
            <a:r>
              <a:rPr lang="en-US" b="1" dirty="0" smtClean="0"/>
              <a:t>Category ID</a:t>
            </a:r>
            <a:endParaRPr lang="ru-RU" b="1" dirty="0" smtClean="0"/>
          </a:p>
          <a:p>
            <a:pPr marL="342900" indent="-342900" algn="just">
              <a:buFont typeface="+mj-lt"/>
              <a:buAutoNum type="arabicPeriod"/>
            </a:pPr>
            <a:r>
              <a:rPr lang="en-US" b="1" dirty="0" smtClean="0"/>
              <a:t>Dislikes</a:t>
            </a:r>
            <a:endParaRPr lang="en-US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93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103120"/>
            <a:ext cx="5086350" cy="3931920"/>
          </a:xfrm>
        </p:spPr>
        <p:txBody>
          <a:bodyPr>
            <a:normAutofit lnSpcReduction="10000"/>
          </a:bodyPr>
          <a:lstStyle/>
          <a:p>
            <a:pPr algn="just" fontAlgn="base"/>
            <a:r>
              <a:rPr lang="ru-RU" dirty="0" smtClean="0"/>
              <a:t>В ходе проекта была создана </a:t>
            </a:r>
            <a:r>
              <a:rPr lang="ru-RU" b="1" dirty="0"/>
              <a:t>рабочая модель-прототип</a:t>
            </a:r>
            <a:r>
              <a:rPr lang="ru-RU" dirty="0"/>
              <a:t>, успешно предсказывающая популярность видео (</a:t>
            </a:r>
            <a:r>
              <a:rPr lang="ru-RU" dirty="0" smtClean="0"/>
              <a:t>R²=0.75).</a:t>
            </a:r>
            <a:endParaRPr lang="ru-RU" dirty="0"/>
          </a:p>
          <a:p>
            <a:pPr algn="just" fontAlgn="base"/>
            <a:r>
              <a:rPr lang="ru-RU" b="1" dirty="0" smtClean="0"/>
              <a:t>Лайки </a:t>
            </a:r>
            <a:r>
              <a:rPr lang="ru-RU" b="1" dirty="0"/>
              <a:t>и активность в комментариях</a:t>
            </a:r>
            <a:r>
              <a:rPr lang="ru-RU" dirty="0"/>
              <a:t> — самые сильные ранние сигналы будущего успеха видео.</a:t>
            </a:r>
          </a:p>
          <a:p>
            <a:pPr algn="just" fontAlgn="base"/>
            <a:r>
              <a:rPr lang="ru-RU" dirty="0" smtClean="0"/>
              <a:t>Модель </a:t>
            </a:r>
            <a:r>
              <a:rPr lang="ru-RU" dirty="0"/>
              <a:t>дает </a:t>
            </a:r>
            <a:r>
              <a:rPr lang="ru-RU" b="1" dirty="0"/>
              <a:t>количественную оценку</a:t>
            </a:r>
            <a:r>
              <a:rPr lang="ru-RU" dirty="0"/>
              <a:t>, на которую могут опираться создатели контента при планировании.</a:t>
            </a:r>
          </a:p>
          <a:p>
            <a:pPr algn="just" fontAlgn="base"/>
            <a:r>
              <a:rPr lang="ru-RU" dirty="0" smtClean="0"/>
              <a:t>Проект </a:t>
            </a:r>
            <a:r>
              <a:rPr lang="ru-RU" dirty="0"/>
              <a:t>демонстрирует полный и воспроизводимый </a:t>
            </a:r>
            <a:r>
              <a:rPr lang="ru-RU" b="1" dirty="0"/>
              <a:t>цикл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Science</a:t>
            </a:r>
            <a:r>
              <a:rPr lang="ru-RU" b="1" dirty="0"/>
              <a:t>-проекта.</a:t>
            </a:r>
          </a:p>
          <a:p>
            <a:pPr algn="just"/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784975" y="1841510"/>
            <a:ext cx="4235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i="1" u="sng" dirty="0" smtClean="0"/>
              <a:t>Перспективы развития</a:t>
            </a:r>
            <a:endParaRPr lang="ru-RU" sz="2800" i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6992939" y="2651045"/>
            <a:ext cx="38195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ru-RU" dirty="0"/>
              <a:t>Эксперименты с </a:t>
            </a:r>
            <a:r>
              <a:rPr lang="ru-RU" i="1" u="sng" dirty="0"/>
              <a:t>другими архитектурами</a:t>
            </a:r>
            <a:r>
              <a:rPr lang="ru-RU" dirty="0"/>
              <a:t> (</a:t>
            </a:r>
            <a:r>
              <a:rPr lang="ru-RU" dirty="0" err="1"/>
              <a:t>графовые</a:t>
            </a:r>
            <a:r>
              <a:rPr lang="ru-RU" dirty="0"/>
              <a:t> сети, ансамбли</a:t>
            </a:r>
            <a:r>
              <a:rPr lang="ru-RU" dirty="0" smtClean="0"/>
              <a:t>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/>
              <a:t>Создание простого </a:t>
            </a:r>
            <a:r>
              <a:rPr lang="ru-RU" i="1" u="sng" dirty="0" smtClean="0"/>
              <a:t>веб-интерфейса</a:t>
            </a:r>
            <a:r>
              <a:rPr lang="ru-RU" dirty="0"/>
              <a:t> </a:t>
            </a:r>
            <a:r>
              <a:rPr lang="ru-RU" dirty="0" smtClean="0"/>
              <a:t>для </a:t>
            </a:r>
            <a:r>
              <a:rPr lang="ru-RU" dirty="0"/>
              <a:t>загрузки данных и </a:t>
            </a:r>
            <a:r>
              <a:rPr lang="ru-RU" dirty="0" smtClean="0"/>
              <a:t>прогноза.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/>
              <a:t>Добавление </a:t>
            </a:r>
            <a:r>
              <a:rPr lang="ru-RU" i="1" u="sng" dirty="0"/>
              <a:t>прогноза по другим</a:t>
            </a:r>
            <a:r>
              <a:rPr lang="ru-RU" i="1" dirty="0"/>
              <a:t> </a:t>
            </a:r>
            <a:r>
              <a:rPr lang="ru-RU" i="1" u="sng" dirty="0"/>
              <a:t>платформам</a:t>
            </a:r>
            <a:r>
              <a:rPr lang="ru-RU" dirty="0"/>
              <a:t> (</a:t>
            </a:r>
            <a:r>
              <a:rPr lang="ru-RU" dirty="0" err="1"/>
              <a:t>TikTok</a:t>
            </a:r>
            <a:r>
              <a:rPr lang="ru-RU" dirty="0"/>
              <a:t>, VK).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067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1942" y="569913"/>
            <a:ext cx="4228116" cy="563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0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авон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Савон</Template>
  <TotalTime>304</TotalTime>
  <Words>622</Words>
  <Application>Microsoft Office PowerPoint</Application>
  <PresentationFormat>Широкоэкранный</PresentationFormat>
  <Paragraphs>78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Century Gothic</vt:lpstr>
      <vt:lpstr>Савон</vt:lpstr>
      <vt:lpstr>Популярность видеороликов на Youtube</vt:lpstr>
      <vt:lpstr>Актуальность</vt:lpstr>
      <vt:lpstr>Цель и задачи</vt:lpstr>
      <vt:lpstr>Этапы работы над проектом</vt:lpstr>
      <vt:lpstr>Сравнение аналогов</vt:lpstr>
      <vt:lpstr>Обзор проекта</vt:lpstr>
      <vt:lpstr>(1) Данные и первичный анализ</vt:lpstr>
      <vt:lpstr>(2) Ключевые инсайты EDA</vt:lpstr>
      <vt:lpstr>(2) Ключевые инсайты EDA</vt:lpstr>
      <vt:lpstr>(3) Модель (архитектура)</vt:lpstr>
      <vt:lpstr>(4) Результаты моделирования</vt:lpstr>
      <vt:lpstr>(4) Результаты моделирования</vt:lpstr>
      <vt:lpstr>Выводы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Популярность видеороликов на Youtube</dc:title>
  <dc:creator>User</dc:creator>
  <cp:lastModifiedBy>Школьник01</cp:lastModifiedBy>
  <cp:revision>21</cp:revision>
  <dcterms:created xsi:type="dcterms:W3CDTF">2025-12-04T16:14:04Z</dcterms:created>
  <dcterms:modified xsi:type="dcterms:W3CDTF">2025-12-05T15:29:10Z</dcterms:modified>
</cp:coreProperties>
</file>